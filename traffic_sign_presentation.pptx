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64" r:id="rId5"/>
    <p:sldId id="265" r:id="rId6"/>
    <p:sldId id="290" r:id="rId7"/>
    <p:sldId id="266" r:id="rId8"/>
    <p:sldId id="272" r:id="rId9"/>
    <p:sldId id="273" r:id="rId10"/>
    <p:sldId id="274" r:id="rId11"/>
    <p:sldId id="275" r:id="rId12"/>
    <p:sldId id="286" r:id="rId13"/>
    <p:sldId id="277" r:id="rId14"/>
    <p:sldId id="276" r:id="rId15"/>
    <p:sldId id="288" r:id="rId16"/>
    <p:sldId id="279" r:id="rId17"/>
    <p:sldId id="282" r:id="rId18"/>
    <p:sldId id="283" r:id="rId19"/>
    <p:sldId id="289" r:id="rId20"/>
    <p:sldId id="295" r:id="rId21"/>
    <p:sldId id="297" r:id="rId22"/>
    <p:sldId id="259" r:id="rId23"/>
  </p:sldIdLst>
  <p:sldSz cx="9144000" cy="5143500"/>
  <p:notesSz cx="6858000" cy="9144000"/>
  <p:embeddedFontLst>
    <p:embeddedFont>
      <p:font typeface="Calibri" panose="020F0502020204030204"/>
      <p:regular r:id="rId27"/>
      <p:bold r:id="rId28"/>
      <p:italic r:id="rId29"/>
      <p:boldItalic r:id="rId30"/>
    </p:embeddedFont>
    <p:embeddedFont>
      <p:font typeface="Libre Baskerville" panose="0200000000000000000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93" userDrawn="1">
          <p15:clr>
            <a:srgbClr val="747775"/>
          </p15:clr>
        </p15:guide>
        <p15:guide id="2" pos="2899"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93"/>
        <p:guide pos="2899"/>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57"/>
        <p:cNvGrpSpPr/>
        <p:nvPr/>
      </p:nvGrpSpPr>
      <p:grpSpPr>
        <a:xfrm>
          <a:off x="0" y="0"/>
          <a:ext cx="0" cy="0"/>
          <a:chOff x="0" y="0"/>
          <a:chExt cx="0" cy="0"/>
        </a:xfrm>
      </p:grpSpPr>
      <p:sp>
        <p:nvSpPr>
          <p:cNvPr id="58" name="Google Shape;58;g3e6be3b1d18_0_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59" name="Google Shape;59;g3e6be3b1d18_0_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e6be3b1d18_0_18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3" name="Google Shape;73;g3e6be3b1d18_0_1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g3e6be3b1d18_0_27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79" name="Google Shape;79;g3e6be3b1d18_0_27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3"/>
          <p:cNvSpPr txBox="1"/>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53" name="Google Shape;53;p13"/>
          <p:cNvSpPr txBox="1"/>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4" name="Google Shape;54;p13"/>
          <p:cNvSpPr txBox="1"/>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5" name="Google Shape;55;p13"/>
          <p:cNvSpPr txBox="1"/>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fld>
            <a:endParaRPr lang="en-GB"/>
          </a:p>
        </p:txBody>
      </p:sp>
      <p:pic>
        <p:nvPicPr>
          <p:cNvPr id="56" name="Google Shape;56;p13"/>
          <p:cNvPicPr preferRelativeResize="0"/>
          <p:nvPr/>
        </p:nvPicPr>
        <p:blipFill rotWithShape="1">
          <a:blip r:embed="rId2"/>
          <a:srcRect/>
          <a:stretch>
            <a:fillRect/>
          </a:stretch>
        </p:blipFill>
        <p:spPr>
          <a:xfrm>
            <a:off x="6610674" y="4638738"/>
            <a:ext cx="2419048" cy="50476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hyperlink" Target="https://www.linkedin.com/in/pya-srinivas/" TargetMode="External"/><Relationship Id="rId1" Type="http://schemas.openxmlformats.org/officeDocument/2006/relationships/hyperlink" Target="https://github.com/PYARASANISRINIVAS?tab=repositories&#13;"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0" name="Shape 60"/>
        <p:cNvGrpSpPr/>
        <p:nvPr/>
      </p:nvGrpSpPr>
      <p:grpSpPr>
        <a:xfrm>
          <a:off x="0" y="0"/>
          <a:ext cx="0" cy="0"/>
          <a:chOff x="0" y="0"/>
          <a:chExt cx="0" cy="0"/>
        </a:xfrm>
      </p:grpSpPr>
      <p:pic>
        <p:nvPicPr>
          <p:cNvPr id="61" name="Google Shape;61;p14"/>
          <p:cNvPicPr preferRelativeResize="0"/>
          <p:nvPr/>
        </p:nvPicPr>
        <p:blipFill rotWithShape="1">
          <a:blip r:embed="rId1"/>
          <a:srcRect/>
          <a:stretch>
            <a:fillRect/>
          </a:stretch>
        </p:blipFill>
        <p:spPr>
          <a:xfrm>
            <a:off x="14414" y="13970"/>
            <a:ext cx="9143113" cy="5020576"/>
          </a:xfrm>
          <a:prstGeom prst="rect">
            <a:avLst/>
          </a:prstGeom>
          <a:noFill/>
          <a:ln>
            <a:noFill/>
          </a:ln>
        </p:spPr>
      </p:pic>
      <p:sp>
        <p:nvSpPr>
          <p:cNvPr id="62" name="Google Shape;62;p14"/>
          <p:cNvSpPr txBox="1"/>
          <p:nvPr/>
        </p:nvSpPr>
        <p:spPr>
          <a:xfrm>
            <a:off x="313055" y="2914015"/>
            <a:ext cx="8270240" cy="89789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alt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TrafficSign AI: Traffic Sign Alert System</a:t>
            </a:r>
            <a:endParaRPr lang="en-US" alt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400"/>
              <a:buFont typeface="Arial" panose="020B0604020202020204"/>
              <a:buNone/>
            </a:pPr>
            <a:endParaRPr lang="en-US" alt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alt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Image Classification Problem </a:t>
            </a:r>
            <a:endParaRPr lang="en-US" alt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799465"/>
            <a:ext cx="8152765" cy="2030095"/>
          </a:xfrm>
          <a:prstGeom prst="rect">
            <a:avLst/>
          </a:prstGeom>
          <a:noFill/>
        </p:spPr>
        <p:txBody>
          <a:bodyPr wrap="square" rtlCol="0">
            <a:spAutoFit/>
          </a:bodyPr>
          <a:p>
            <a:r>
              <a:rPr lang="en-US" sz="2000" b="1">
                <a:solidFill>
                  <a:srgbClr val="FF0000"/>
                </a:solidFill>
                <a:latin typeface="Times New Roman" panose="02020603050405020304" charset="0"/>
                <a:cs typeface="Times New Roman" panose="02020603050405020304" charset="0"/>
              </a:rPr>
              <a:t>About Me</a:t>
            </a:r>
            <a:r>
              <a:rPr lang="en-US"/>
              <a:t> </a:t>
            </a:r>
            <a:endParaRPr lang="en-US"/>
          </a:p>
          <a:p>
            <a:endParaRPr lang="en-US"/>
          </a:p>
          <a:p>
            <a:r>
              <a:rPr lang="en-US" sz="1600" b="1">
                <a:latin typeface="Times New Roman" panose="02020603050405020304" charset="0"/>
                <a:cs typeface="Times New Roman" panose="02020603050405020304" charset="0"/>
              </a:rPr>
              <a:t>PYARASANI SRINIVAS </a:t>
            </a:r>
            <a:endParaRPr lang="en-US" sz="1600" b="1">
              <a:latin typeface="Times New Roman" panose="02020603050405020304" charset="0"/>
              <a:cs typeface="Times New Roman" panose="02020603050405020304" charset="0"/>
            </a:endParaRPr>
          </a:p>
          <a:p>
            <a:endParaRPr lang="en-US" sz="1600" b="1">
              <a:latin typeface="Times New Roman" panose="02020603050405020304" charset="0"/>
              <a:cs typeface="Times New Roman" panose="02020603050405020304" charset="0"/>
            </a:endParaRPr>
          </a:p>
          <a:p>
            <a:r>
              <a:rPr lang="en-US" sz="1600">
                <a:latin typeface="Times New Roman" panose="02020603050405020304" charset="0"/>
                <a:cs typeface="Times New Roman" panose="02020603050405020304" charset="0"/>
              </a:rPr>
              <a:t>B.Tech </a:t>
            </a:r>
            <a:r>
              <a:rPr lang="en-US" sz="1600">
                <a:latin typeface="Times New Roman" panose="02020603050405020304" charset="0"/>
                <a:cs typeface="Times New Roman" panose="02020603050405020304" charset="0"/>
              </a:rPr>
              <a:t>(Computer science and Engineering)</a:t>
            </a:r>
            <a:br>
              <a:rPr lang="en-US" sz="1600">
                <a:latin typeface="Times New Roman" panose="02020603050405020304" charset="0"/>
                <a:cs typeface="Times New Roman" panose="02020603050405020304" charset="0"/>
              </a:rPr>
            </a:br>
            <a:endParaRPr lang="en-US" sz="1600">
              <a:latin typeface="Times New Roman" panose="02020603050405020304" charset="0"/>
              <a:cs typeface="Times New Roman" panose="02020603050405020304" charset="0"/>
            </a:endParaRPr>
          </a:p>
          <a:p>
            <a:r>
              <a:rPr lang="en-US">
                <a:latin typeface="Times New Roman" panose="02020603050405020304" charset="0"/>
                <a:cs typeface="Times New Roman" panose="02020603050405020304" charset="0"/>
                <a:hlinkClick r:id="rId1" action="ppaction://hlinkfile"/>
              </a:rPr>
              <a:t>Git Hub</a:t>
            </a:r>
            <a:r>
              <a:rPr lang="en-US">
                <a:latin typeface="Times New Roman" panose="02020603050405020304" charset="0"/>
                <a:cs typeface="Times New Roman" panose="02020603050405020304" charset="0"/>
              </a:rPr>
              <a:t> | </a:t>
            </a:r>
            <a:r>
              <a:rPr lang="en-US">
                <a:latin typeface="Times New Roman" panose="02020603050405020304" charset="0"/>
                <a:cs typeface="Times New Roman" panose="02020603050405020304" charset="0"/>
                <a:hlinkClick r:id="rId2" action="ppaction://hlinkfile"/>
              </a:rPr>
              <a:t>Linked In</a:t>
            </a:r>
            <a:r>
              <a:rPr lang="en-US">
                <a:latin typeface="Times New Roman" panose="02020603050405020304" charset="0"/>
                <a:cs typeface="Times New Roman" panose="02020603050405020304" charset="0"/>
              </a:rPr>
              <a:t> </a:t>
            </a: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290195" y="600710"/>
            <a:ext cx="8152765" cy="3938270"/>
          </a:xfrm>
          <a:prstGeom prst="rect">
            <a:avLst/>
          </a:prstGeom>
          <a:noFill/>
        </p:spPr>
        <p:txBody>
          <a:bodyPr wrap="square" rtlCol="0">
            <a:spAutoFit/>
          </a:bodyPr>
          <a:p>
            <a:r>
              <a:rPr lang="en-US" sz="2000" b="1">
                <a:solidFill>
                  <a:srgbClr val="FF0000"/>
                </a:solidFill>
                <a:latin typeface="Times New Roman" panose="02020603050405020304" charset="0"/>
                <a:cs typeface="Times New Roman" panose="02020603050405020304" charset="0"/>
              </a:rPr>
              <a:t>Agenda</a:t>
            </a:r>
            <a:br>
              <a:rPr lang="en-US" sz="2000" b="1">
                <a:solidFill>
                  <a:srgbClr val="FF0000"/>
                </a:solidFill>
                <a:latin typeface="Times New Roman" panose="02020603050405020304" charset="0"/>
                <a:cs typeface="Times New Roman" panose="02020603050405020304" charset="0"/>
              </a:rPr>
            </a:br>
            <a:endParaRPr lang="en-US" sz="2000" b="1">
              <a:solidFill>
                <a:srgbClr val="FF0000"/>
              </a:solidFill>
              <a:latin typeface="Times New Roman" panose="02020603050405020304" charset="0"/>
              <a:cs typeface="Times New Roman" panose="02020603050405020304" charset="0"/>
            </a:endParaRPr>
          </a:p>
          <a:p>
            <a:pPr marL="800100" lvl="1" indent="-342900">
              <a:lnSpc>
                <a:spcPct val="200000"/>
              </a:lnSpc>
              <a:buAutoNum type="arabicPeriod"/>
            </a:pPr>
            <a:r>
              <a:rPr lang="en-US" altLang="en-GB">
                <a:latin typeface="Times New Roman" panose="02020603050405020304" charset="0"/>
                <a:cs typeface="Times New Roman" panose="02020603050405020304" charset="0"/>
                <a:sym typeface="+mn-ea"/>
              </a:rPr>
              <a:t>Problem Statement</a:t>
            </a:r>
            <a:endParaRPr lang="en-US" altLang="en-GB">
              <a:latin typeface="Times New Roman" panose="02020603050405020304" charset="0"/>
              <a:cs typeface="Times New Roman" panose="02020603050405020304" charset="0"/>
              <a:sym typeface="+mn-ea"/>
            </a:endParaRPr>
          </a:p>
          <a:p>
            <a:pPr marL="800100" lvl="1" indent="-342900">
              <a:lnSpc>
                <a:spcPct val="200000"/>
              </a:lnSpc>
              <a:buAutoNum type="arabicPeriod"/>
            </a:pPr>
            <a:r>
              <a:rPr lang="en-US" altLang="en-GB">
                <a:latin typeface="Times New Roman" panose="02020603050405020304" charset="0"/>
                <a:cs typeface="Times New Roman" panose="02020603050405020304" charset="0"/>
                <a:sym typeface="+mn-ea"/>
              </a:rPr>
              <a:t>Objective of the project</a:t>
            </a:r>
            <a:endParaRPr lang="en-US" altLang="en-GB">
              <a:latin typeface="Times New Roman" panose="02020603050405020304" charset="0"/>
              <a:cs typeface="Times New Roman" panose="02020603050405020304" charset="0"/>
              <a:sym typeface="+mn-ea"/>
            </a:endParaRPr>
          </a:p>
          <a:p>
            <a:pPr marL="800100" lvl="1" indent="-342900">
              <a:lnSpc>
                <a:spcPct val="200000"/>
              </a:lnSpc>
              <a:buAutoNum type="arabicPeriod"/>
            </a:pPr>
            <a:r>
              <a:rPr lang="en-US" altLang="en-GB">
                <a:latin typeface="Times New Roman" panose="02020603050405020304" charset="0"/>
                <a:cs typeface="Times New Roman" panose="02020603050405020304" charset="0"/>
                <a:sym typeface="+mn-ea"/>
              </a:rPr>
              <a:t>Dataset Overview</a:t>
            </a:r>
            <a:r>
              <a:rPr lang="en-GB">
                <a:latin typeface="Times New Roman" panose="02020603050405020304" charset="0"/>
                <a:cs typeface="Times New Roman" panose="02020603050405020304" charset="0"/>
                <a:sym typeface="+mn-ea"/>
              </a:rPr>
              <a:t> </a:t>
            </a:r>
            <a:endParaRPr lang="en-GB">
              <a:latin typeface="Times New Roman" panose="02020603050405020304" charset="0"/>
              <a:cs typeface="Times New Roman" panose="02020603050405020304" charset="0"/>
              <a:sym typeface="+mn-ea"/>
            </a:endParaRPr>
          </a:p>
          <a:p>
            <a:pPr marL="800100" lvl="1" indent="-342900">
              <a:lnSpc>
                <a:spcPct val="200000"/>
              </a:lnSpc>
              <a:buAutoNum type="arabicPeriod"/>
            </a:pPr>
            <a:r>
              <a:rPr lang="en-US" altLang="en-GB">
                <a:latin typeface="Times New Roman" panose="02020603050405020304" charset="0"/>
                <a:cs typeface="Times New Roman" panose="02020603050405020304" charset="0"/>
                <a:sym typeface="+mn-ea"/>
              </a:rPr>
              <a:t>Work Flow of the project </a:t>
            </a:r>
            <a:endParaRPr lang="en-US" altLang="en-GB">
              <a:latin typeface="Times New Roman" panose="02020603050405020304" charset="0"/>
              <a:cs typeface="Times New Roman" panose="02020603050405020304" charset="0"/>
              <a:sym typeface="+mn-ea"/>
            </a:endParaRPr>
          </a:p>
          <a:p>
            <a:pPr marL="800100" lvl="1" indent="-342900">
              <a:lnSpc>
                <a:spcPct val="200000"/>
              </a:lnSpc>
              <a:buAutoNum type="arabicPeriod"/>
            </a:pPr>
            <a:r>
              <a:rPr lang="en-US">
                <a:latin typeface="Times New Roman" panose="02020603050405020304" charset="0"/>
                <a:cs typeface="Times New Roman" panose="02020603050405020304" charset="0"/>
              </a:rPr>
              <a:t>Technologies </a:t>
            </a:r>
            <a:endParaRPr lang="en-US">
              <a:latin typeface="Times New Roman" panose="02020603050405020304" charset="0"/>
              <a:cs typeface="Times New Roman" panose="02020603050405020304" charset="0"/>
            </a:endParaRPr>
          </a:p>
          <a:p>
            <a:pPr marL="800100" lvl="1" indent="-342900">
              <a:lnSpc>
                <a:spcPct val="200000"/>
              </a:lnSpc>
              <a:buAutoNum type="arabicPeriod"/>
            </a:pPr>
            <a:r>
              <a:rPr lang="en-US">
                <a:latin typeface="Times New Roman" panose="02020603050405020304" charset="0"/>
                <a:cs typeface="Times New Roman" panose="02020603050405020304" charset="0"/>
              </a:rPr>
              <a:t>Conclusion</a:t>
            </a:r>
            <a:endParaRPr lang="en-US">
              <a:latin typeface="Times New Roman" panose="02020603050405020304" charset="0"/>
              <a:cs typeface="Times New Roman" panose="02020603050405020304" charset="0"/>
            </a:endParaRPr>
          </a:p>
          <a:p>
            <a:pPr marL="800100" lvl="1" indent="-342900">
              <a:lnSpc>
                <a:spcPct val="200000"/>
              </a:lnSpc>
              <a:buAutoNum type="arabicPeriod"/>
            </a:pPr>
            <a:r>
              <a:rPr lang="en-US">
                <a:latin typeface="Times New Roman" panose="02020603050405020304" charset="0"/>
                <a:cs typeface="Times New Roman" panose="02020603050405020304" charset="0"/>
              </a:rPr>
              <a:t>Q&amp;A</a:t>
            </a: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424180" y="431800"/>
            <a:ext cx="4370705" cy="4187190"/>
          </a:xfrm>
          <a:prstGeom prst="rect">
            <a:avLst/>
          </a:prstGeom>
          <a:noFill/>
        </p:spPr>
        <p:txBody>
          <a:bodyPr wrap="square" rtlCol="0">
            <a:noAutofit/>
          </a:bodyPr>
          <a:p>
            <a:pPr marL="0" lvl="1"/>
            <a:r>
              <a:rPr lang="en-IN" altLang="en-GB" sz="2000" b="1">
                <a:solidFill>
                  <a:srgbClr val="FF0000"/>
                </a:solidFill>
                <a:latin typeface="Times New Roman" panose="02020603050405020304" charset="0"/>
                <a:cs typeface="Times New Roman" panose="02020603050405020304" charset="0"/>
                <a:sym typeface="+mn-ea"/>
              </a:rPr>
              <a:t>Background</a:t>
            </a:r>
            <a:endParaRPr lang="en-IN" altLang="en-GB" sz="2000" b="1">
              <a:solidFill>
                <a:srgbClr val="FF0000"/>
              </a:solidFill>
              <a:latin typeface="Times New Roman" panose="02020603050405020304" charset="0"/>
              <a:cs typeface="Times New Roman" panose="02020603050405020304" charset="0"/>
              <a:sym typeface="+mn-ea"/>
            </a:endParaRPr>
          </a:p>
          <a:p>
            <a:pPr marL="0" lvl="1"/>
            <a:endParaRPr lang="en-IN" altLang="en-GB" sz="2000" b="1">
              <a:solidFill>
                <a:srgbClr val="FF0000"/>
              </a:solidFill>
              <a:latin typeface="Times New Roman" panose="02020603050405020304" charset="0"/>
              <a:cs typeface="Times New Roman" panose="02020603050405020304" charset="0"/>
              <a:sym typeface="+mn-ea"/>
            </a:endParaRPr>
          </a:p>
          <a:p>
            <a:pPr marL="0" lvl="1"/>
            <a:endParaRPr lang="en-IN" altLang="en-GB" sz="2000" b="1">
              <a:solidFill>
                <a:srgbClr val="FF0000"/>
              </a:solidFill>
              <a:latin typeface="Times New Roman" panose="02020603050405020304" charset="0"/>
              <a:cs typeface="Times New Roman" panose="02020603050405020304" charset="0"/>
              <a:sym typeface="+mn-ea"/>
            </a:endParaRPr>
          </a:p>
          <a:p>
            <a:pPr marL="0" lvl="1"/>
            <a:endParaRPr lang="en-IN" altLang="en-GB" sz="2000" b="1">
              <a:solidFill>
                <a:srgbClr val="FF0000"/>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Traffic sign recognition is an important application of computer vision and machine learning, with applications in intelligent transportation and driver-assistance systems.</a:t>
            </a: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Traffic signs provide essential information about speed limits, road conditions, warnings, and restrictions. Automatically recognizing these signs can improve road safety and support intelligent vehicle systems by providing timely alerts to drivers.</a:t>
            </a: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endParaRPr lang="en-US" altLang="en-US" sz="1200">
              <a:solidFill>
                <a:schemeClr val="tx1"/>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en-US" sz="1200" u="sng">
              <a:solidFill>
                <a:schemeClr val="tx1"/>
              </a:solidFill>
              <a:latin typeface="Times New Roman" panose="02020603050405020304" charset="0"/>
              <a:cs typeface="Times New Roman" panose="02020603050405020304" charset="0"/>
              <a:sym typeface="+mn-ea"/>
            </a:endParaRPr>
          </a:p>
        </p:txBody>
      </p:sp>
      <p:pic>
        <p:nvPicPr>
          <p:cNvPr id="1" name="Picture 0"/>
          <p:cNvPicPr/>
          <p:nvPr/>
        </p:nvPicPr>
        <p:blipFill>
          <a:blip r:embed="rId1"/>
          <a:stretch>
            <a:fillRect/>
          </a:stretch>
        </p:blipFill>
        <p:spPr>
          <a:xfrm>
            <a:off x="5704840" y="494030"/>
            <a:ext cx="3115310" cy="262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601345"/>
            <a:ext cx="7941310" cy="4171950"/>
          </a:xfrm>
          <a:prstGeom prst="rect">
            <a:avLst/>
          </a:prstGeom>
          <a:noFill/>
        </p:spPr>
        <p:txBody>
          <a:bodyPr wrap="square" rtlCol="0">
            <a:noAutofit/>
          </a:bodyPr>
          <a:p>
            <a:pPr marL="0" lvl="1"/>
            <a:r>
              <a:rPr lang="en-US" altLang="en-GB" sz="2000" b="1">
                <a:solidFill>
                  <a:srgbClr val="FF0000"/>
                </a:solidFill>
                <a:latin typeface="Times New Roman" panose="02020603050405020304" charset="0"/>
                <a:cs typeface="Times New Roman" panose="02020603050405020304" charset="0"/>
                <a:sym typeface="+mn-ea"/>
              </a:rPr>
              <a:t>Problem Statement</a:t>
            </a:r>
            <a:endParaRPr lang="en-US" altLang="en-GB" sz="2000" b="1">
              <a:solidFill>
                <a:srgbClr val="FF0000"/>
              </a:solidFill>
              <a:latin typeface="Times New Roman" panose="02020603050405020304" charset="0"/>
              <a:cs typeface="Times New Roman" panose="02020603050405020304" charset="0"/>
              <a:sym typeface="+mn-ea"/>
            </a:endParaRPr>
          </a:p>
          <a:p>
            <a:pPr marL="285750" lvl="1" indent="-285750">
              <a:buFont typeface="Arial" panose="020B0604020202020204" pitchFamily="34" charset="0"/>
              <a:buChar char="•"/>
            </a:pPr>
            <a:endParaRPr lang="en-US" altLang="en-US">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r>
              <a:rPr lang="en-US" altLang="en-US">
                <a:solidFill>
                  <a:schemeClr val="tx1"/>
                </a:solidFill>
                <a:latin typeface="Times New Roman" panose="02020603050405020304" charset="0"/>
                <a:cs typeface="Times New Roman" panose="02020603050405020304" charset="0"/>
                <a:sym typeface="+mn-ea"/>
              </a:rPr>
              <a:t>This  project uses an </a:t>
            </a:r>
            <a:r>
              <a:rPr lang="en-US" altLang="en-US" b="1">
                <a:solidFill>
                  <a:schemeClr val="tx1"/>
                </a:solidFill>
                <a:latin typeface="Times New Roman" panose="02020603050405020304" charset="0"/>
                <a:cs typeface="Times New Roman" panose="02020603050405020304" charset="0"/>
                <a:sym typeface="+mn-ea"/>
              </a:rPr>
              <a:t>Artificial Neural Network (ANN)</a:t>
            </a:r>
            <a:r>
              <a:rPr lang="en-US" altLang="en-US">
                <a:solidFill>
                  <a:schemeClr val="tx1"/>
                </a:solidFill>
                <a:latin typeface="Times New Roman" panose="02020603050405020304" charset="0"/>
                <a:cs typeface="Times New Roman" panose="02020603050405020304" charset="0"/>
                <a:sym typeface="+mn-ea"/>
              </a:rPr>
              <a:t> to recognize and classify traffic signs from images, videos, and live camera input. </a:t>
            </a:r>
            <a:endParaRPr lang="en-US" altLang="en-US">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r>
              <a:rPr lang="en-US" altLang="en-US">
                <a:solidFill>
                  <a:schemeClr val="tx1"/>
                </a:solidFill>
                <a:latin typeface="Times New Roman" panose="02020603050405020304" charset="0"/>
                <a:cs typeface="Times New Roman" panose="02020603050405020304" charset="0"/>
                <a:sym typeface="+mn-ea"/>
              </a:rPr>
              <a:t>The system displays the </a:t>
            </a:r>
            <a:r>
              <a:rPr lang="en-US" altLang="en-US" b="1">
                <a:solidFill>
                  <a:schemeClr val="tx1"/>
                </a:solidFill>
                <a:latin typeface="Times New Roman" panose="02020603050405020304" charset="0"/>
                <a:cs typeface="Times New Roman" panose="02020603050405020304" charset="0"/>
                <a:sym typeface="+mn-ea"/>
              </a:rPr>
              <a:t>predicted traffic sign</a:t>
            </a:r>
            <a:r>
              <a:rPr lang="en-US" altLang="en-US">
                <a:solidFill>
                  <a:schemeClr val="tx1"/>
                </a:solidFill>
                <a:latin typeface="Times New Roman" panose="02020603050405020304" charset="0"/>
                <a:cs typeface="Times New Roman" panose="02020603050405020304" charset="0"/>
                <a:sym typeface="+mn-ea"/>
              </a:rPr>
              <a:t> and confidence score and provides a </a:t>
            </a:r>
            <a:r>
              <a:rPr lang="en-US" altLang="en-US" b="1">
                <a:solidFill>
                  <a:schemeClr val="tx1"/>
                </a:solidFill>
                <a:latin typeface="Times New Roman" panose="02020603050405020304" charset="0"/>
                <a:cs typeface="Times New Roman" panose="02020603050405020304" charset="0"/>
                <a:sym typeface="+mn-ea"/>
              </a:rPr>
              <a:t>voice alert </a:t>
            </a:r>
            <a:r>
              <a:rPr lang="en-US" altLang="en-US">
                <a:solidFill>
                  <a:schemeClr val="tx1"/>
                </a:solidFill>
                <a:latin typeface="Times New Roman" panose="02020603050405020304" charset="0"/>
                <a:cs typeface="Times New Roman" panose="02020603050405020304" charset="0"/>
                <a:sym typeface="+mn-ea"/>
              </a:rPr>
              <a:t>for the detected sign, creating a smart and user-friendly traffic sign warning system.</a:t>
            </a:r>
            <a:endParaRPr lang="en-US" altLang="en-US">
              <a:solidFill>
                <a:schemeClr val="tx1"/>
              </a:solidFill>
              <a:latin typeface="Times New Roman" panose="02020603050405020304" charset="0"/>
              <a:cs typeface="Times New Roman" panose="0202060305040502030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601345"/>
            <a:ext cx="8152765" cy="4171950"/>
          </a:xfrm>
          <a:prstGeom prst="rect">
            <a:avLst/>
          </a:prstGeom>
          <a:noFill/>
        </p:spPr>
        <p:txBody>
          <a:bodyPr wrap="square" rtlCol="0">
            <a:noAutofit/>
          </a:bodyPr>
          <a:p>
            <a:pPr marL="0" lvl="1"/>
            <a:r>
              <a:rPr lang="en-GB" sz="2000" b="1">
                <a:solidFill>
                  <a:srgbClr val="FF0000"/>
                </a:solidFill>
                <a:latin typeface="Times New Roman" panose="02020603050405020304" charset="0"/>
                <a:cs typeface="Times New Roman" panose="02020603050405020304" charset="0"/>
                <a:sym typeface="+mn-ea"/>
              </a:rPr>
              <a:t>Objective of the Project</a:t>
            </a:r>
            <a:endParaRPr lang="en-GB" sz="2000" b="1">
              <a:solidFill>
                <a:srgbClr val="FF0000"/>
              </a:solidFill>
              <a:latin typeface="Times New Roman" panose="02020603050405020304" charset="0"/>
              <a:cs typeface="Times New Roman" panose="02020603050405020304" charset="0"/>
              <a:sym typeface="+mn-ea"/>
            </a:endParaRPr>
          </a:p>
          <a:p>
            <a:pPr marL="0" lvl="1"/>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00000"/>
              </a:lnSpc>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Develop an </a:t>
            </a:r>
            <a:r>
              <a:rPr lang="en-US" altLang="en-US" sz="1200" b="1">
                <a:solidFill>
                  <a:schemeClr val="tx1"/>
                </a:solidFill>
                <a:latin typeface="Times New Roman" panose="02020603050405020304" charset="0"/>
                <a:cs typeface="Times New Roman" panose="02020603050405020304" charset="0"/>
                <a:sym typeface="+mn-ea"/>
              </a:rPr>
              <a:t>ANN-based traffic sign recognition and warning system.</a:t>
            </a:r>
            <a:endParaRPr lang="en-US" altLang="en-US" sz="1200" b="1">
              <a:solidFill>
                <a:schemeClr val="tx1"/>
              </a:solidFill>
              <a:latin typeface="Times New Roman" panose="02020603050405020304" charset="0"/>
              <a:cs typeface="Times New Roman" panose="02020603050405020304" charset="0"/>
              <a:sym typeface="+mn-ea"/>
            </a:endParaRPr>
          </a:p>
          <a:p>
            <a:pPr marL="628650" lvl="2" indent="-171450">
              <a:lnSpc>
                <a:spcPct val="200000"/>
              </a:lnSpc>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 Enable users to provide </a:t>
            </a:r>
            <a:r>
              <a:rPr lang="en-US" altLang="en-US" sz="1200" b="1">
                <a:solidFill>
                  <a:schemeClr val="tx1"/>
                </a:solidFill>
                <a:latin typeface="Times New Roman" panose="02020603050405020304" charset="0"/>
                <a:cs typeface="Times New Roman" panose="02020603050405020304" charset="0"/>
                <a:sym typeface="+mn-ea"/>
              </a:rPr>
              <a:t>images, videos, and live camera input</a:t>
            </a:r>
            <a:r>
              <a:rPr lang="en-US" altLang="en-US" sz="1200">
                <a:solidFill>
                  <a:schemeClr val="tx1"/>
                </a:solidFill>
                <a:latin typeface="Times New Roman" panose="02020603050405020304" charset="0"/>
                <a:cs typeface="Times New Roman" panose="02020603050405020304" charset="0"/>
                <a:sym typeface="+mn-ea"/>
              </a:rPr>
              <a:t> for traffic sign recognition.</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00000"/>
              </a:lnSpc>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Preprocess and </a:t>
            </a:r>
            <a:r>
              <a:rPr lang="en-US" altLang="en-US" sz="1200" b="1">
                <a:solidFill>
                  <a:schemeClr val="tx1"/>
                </a:solidFill>
                <a:latin typeface="Times New Roman" panose="02020603050405020304" charset="0"/>
                <a:cs typeface="Times New Roman" panose="02020603050405020304" charset="0"/>
                <a:sym typeface="+mn-ea"/>
              </a:rPr>
              <a:t>normalize traffic sign images</a:t>
            </a:r>
            <a:r>
              <a:rPr lang="en-US" altLang="en-US" sz="1200">
                <a:solidFill>
                  <a:schemeClr val="tx1"/>
                </a:solidFill>
                <a:latin typeface="Times New Roman" panose="02020603050405020304" charset="0"/>
                <a:cs typeface="Times New Roman" panose="02020603050405020304" charset="0"/>
                <a:sym typeface="+mn-ea"/>
              </a:rPr>
              <a:t> for accurate prediction.</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00000"/>
              </a:lnSpc>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Classify traffic signs using a </a:t>
            </a:r>
            <a:r>
              <a:rPr lang="en-US" altLang="en-US" sz="1200" b="1">
                <a:solidFill>
                  <a:schemeClr val="tx1"/>
                </a:solidFill>
                <a:latin typeface="Times New Roman" panose="02020603050405020304" charset="0"/>
                <a:cs typeface="Times New Roman" panose="02020603050405020304" charset="0"/>
                <a:sym typeface="+mn-ea"/>
              </a:rPr>
              <a:t>trained Artificial Neural Network (ANN).</a:t>
            </a:r>
            <a:endParaRPr lang="en-US" altLang="en-US" sz="1200" b="1">
              <a:solidFill>
                <a:schemeClr val="tx1"/>
              </a:solidFill>
              <a:latin typeface="Times New Roman" panose="02020603050405020304" charset="0"/>
              <a:cs typeface="Times New Roman" panose="02020603050405020304" charset="0"/>
              <a:sym typeface="+mn-ea"/>
            </a:endParaRPr>
          </a:p>
          <a:p>
            <a:pPr marL="628650" lvl="2" indent="-171450">
              <a:lnSpc>
                <a:spcPct val="200000"/>
              </a:lnSpc>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Display the predicted</a:t>
            </a:r>
            <a:r>
              <a:rPr lang="en-US" altLang="en-US" sz="1200" b="1">
                <a:solidFill>
                  <a:schemeClr val="tx1"/>
                </a:solidFill>
                <a:latin typeface="Times New Roman" panose="02020603050405020304" charset="0"/>
                <a:cs typeface="Times New Roman" panose="02020603050405020304" charset="0"/>
                <a:sym typeface="+mn-ea"/>
              </a:rPr>
              <a:t> traffic sign along with its confidence score</a:t>
            </a:r>
            <a:r>
              <a:rPr lang="en-US" altLang="en-US" sz="1200">
                <a:solidFill>
                  <a:schemeClr val="tx1"/>
                </a:solidFill>
                <a:latin typeface="Times New Roman" panose="02020603050405020304" charset="0"/>
                <a:cs typeface="Times New Roman" panose="02020603050405020304" charset="0"/>
                <a:sym typeface="+mn-ea"/>
              </a:rPr>
              <a:t>.</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00000"/>
              </a:lnSpc>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Provide a </a:t>
            </a:r>
            <a:r>
              <a:rPr lang="en-US" altLang="en-US" sz="1200" b="1">
                <a:solidFill>
                  <a:schemeClr val="tx1"/>
                </a:solidFill>
                <a:latin typeface="Times New Roman" panose="02020603050405020304" charset="0"/>
                <a:cs typeface="Times New Roman" panose="02020603050405020304" charset="0"/>
                <a:sym typeface="+mn-ea"/>
              </a:rPr>
              <a:t>voice alert for the detected traffic sign</a:t>
            </a:r>
            <a:r>
              <a:rPr lang="en-US" altLang="en-US" sz="1200">
                <a:solidFill>
                  <a:schemeClr val="tx1"/>
                </a:solidFill>
                <a:latin typeface="Times New Roman" panose="02020603050405020304" charset="0"/>
                <a:cs typeface="Times New Roman" panose="02020603050405020304" charset="0"/>
                <a:sym typeface="+mn-ea"/>
              </a:rPr>
              <a:t> to improve user awareness.</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00000"/>
              </a:lnSpc>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Build an interactive </a:t>
            </a:r>
            <a:r>
              <a:rPr lang="en-US" altLang="en-US" sz="1200" b="1">
                <a:solidFill>
                  <a:schemeClr val="tx1"/>
                </a:solidFill>
                <a:latin typeface="Times New Roman" panose="02020603050405020304" charset="0"/>
                <a:cs typeface="Times New Roman" panose="02020603050405020304" charset="0"/>
                <a:sym typeface="+mn-ea"/>
              </a:rPr>
              <a:t>Streamlit application for traffic sign</a:t>
            </a:r>
            <a:r>
              <a:rPr lang="en-US" altLang="en-US" sz="1200">
                <a:solidFill>
                  <a:schemeClr val="tx1"/>
                </a:solidFill>
                <a:latin typeface="Times New Roman" panose="02020603050405020304" charset="0"/>
                <a:cs typeface="Times New Roman" panose="02020603050405020304" charset="0"/>
                <a:sym typeface="+mn-ea"/>
              </a:rPr>
              <a:t> recognition and real-time warning.</a:t>
            </a:r>
            <a:endParaRPr lang="en-US" altLang="en-US" sz="1200">
              <a:solidFill>
                <a:schemeClr val="tx1"/>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en-US" sz="1200">
              <a:solidFill>
                <a:schemeClr val="tx1"/>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495300" y="678815"/>
            <a:ext cx="8152765" cy="4171950"/>
          </a:xfrm>
          <a:prstGeom prst="rect">
            <a:avLst/>
          </a:prstGeom>
          <a:noFill/>
        </p:spPr>
        <p:txBody>
          <a:bodyPr wrap="square" rtlCol="0">
            <a:noAutofit/>
          </a:bodyPr>
          <a:p>
            <a:pPr marL="0" lvl="1"/>
            <a:r>
              <a:rPr lang="en-US" altLang="en-GB" sz="2000" b="1">
                <a:solidFill>
                  <a:srgbClr val="FF0000"/>
                </a:solidFill>
                <a:latin typeface="Times New Roman" panose="02020603050405020304" charset="0"/>
                <a:cs typeface="Times New Roman" panose="02020603050405020304" charset="0"/>
                <a:sym typeface="+mn-ea"/>
              </a:rPr>
              <a:t>Dataset Overview</a:t>
            </a:r>
            <a:endParaRPr lang="en-US" altLang="en-GB" sz="2000" b="1">
              <a:solidFill>
                <a:srgbClr val="FF0000"/>
              </a:solidFill>
              <a:latin typeface="Times New Roman" panose="02020603050405020304" charset="0"/>
              <a:cs typeface="Times New Roman" panose="02020603050405020304" charset="0"/>
              <a:sym typeface="+mn-ea"/>
            </a:endParaRPr>
          </a:p>
          <a:p>
            <a:pPr marL="0" lvl="1"/>
            <a:endParaRPr lang="en-US" altLang="en-GB"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The Traffic Sign Dataset is an image classification dataset designed for recognizing and classifying different types of traffic signs.</a:t>
            </a: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It contains images organized into different classes, with each class representing a specific traffic sign. The dataset includes various signs related to warnings, restrictions, road conditions, and other traffic regulations.</a:t>
            </a: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endParaRPr lang="en-US" altLang="en-US" sz="1200">
              <a:solidFill>
                <a:schemeClr val="tx1"/>
              </a:solidFill>
              <a:latin typeface="Times New Roman" panose="02020603050405020304" charset="0"/>
              <a:cs typeface="Times New Roman" panose="02020603050405020304" charset="0"/>
              <a:sym typeface="+mn-ea"/>
            </a:endParaRPr>
          </a:p>
          <a:p>
            <a:pPr marL="171450" lvl="1" indent="-171450">
              <a:buFont typeface="Arial" panose="020B0604020202020204" pitchFamily="34" charset="0"/>
              <a:buChar char="•"/>
            </a:pPr>
            <a:r>
              <a:rPr lang="en-US" altLang="en-US" sz="1200">
                <a:solidFill>
                  <a:schemeClr val="tx1"/>
                </a:solidFill>
                <a:latin typeface="Times New Roman" panose="02020603050405020304" charset="0"/>
                <a:cs typeface="Times New Roman" panose="02020603050405020304" charset="0"/>
                <a:sym typeface="+mn-ea"/>
              </a:rPr>
              <a:t>The dataset contains a total of </a:t>
            </a:r>
            <a:r>
              <a:rPr lang="en-US" altLang="en-US" sz="1200" b="1">
                <a:solidFill>
                  <a:schemeClr val="tx1"/>
                </a:solidFill>
                <a:latin typeface="Times New Roman" panose="02020603050405020304" charset="0"/>
                <a:cs typeface="Times New Roman" panose="02020603050405020304" charset="0"/>
                <a:sym typeface="+mn-ea"/>
              </a:rPr>
              <a:t>13770</a:t>
            </a:r>
            <a:r>
              <a:rPr lang="en-US" altLang="en-US" sz="1200">
                <a:solidFill>
                  <a:schemeClr val="tx1"/>
                </a:solidFill>
                <a:latin typeface="Times New Roman" panose="02020603050405020304" charset="0"/>
                <a:cs typeface="Times New Roman" panose="02020603050405020304" charset="0"/>
                <a:sym typeface="+mn-ea"/>
              </a:rPr>
              <a:t> </a:t>
            </a:r>
            <a:r>
              <a:rPr lang="en-US" altLang="en-US" sz="1200" b="1">
                <a:solidFill>
                  <a:schemeClr val="tx1"/>
                </a:solidFill>
                <a:latin typeface="Times New Roman" panose="02020603050405020304" charset="0"/>
                <a:cs typeface="Times New Roman" panose="02020603050405020304" charset="0"/>
                <a:sym typeface="+mn-ea"/>
              </a:rPr>
              <a:t>images used for training and evaluating the traffic sign</a:t>
            </a:r>
            <a:r>
              <a:rPr lang="en-US" altLang="en-US" sz="1200">
                <a:solidFill>
                  <a:schemeClr val="tx1"/>
                </a:solidFill>
                <a:latin typeface="Times New Roman" panose="02020603050405020304" charset="0"/>
                <a:cs typeface="Times New Roman" panose="02020603050405020304" charset="0"/>
                <a:sym typeface="+mn-ea"/>
              </a:rPr>
              <a:t> recognition model.</a:t>
            </a:r>
            <a:endParaRPr lang="en-US" altLang="en-US" sz="1200">
              <a:solidFill>
                <a:schemeClr val="tx1"/>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349885"/>
            <a:ext cx="8152765" cy="4444365"/>
          </a:xfrm>
          <a:prstGeom prst="rect">
            <a:avLst/>
          </a:prstGeom>
          <a:noFill/>
        </p:spPr>
        <p:txBody>
          <a:bodyPr wrap="square" rtlCol="0">
            <a:noAutofit/>
          </a:bodyPr>
          <a:p>
            <a:pPr marL="0" lvl="1"/>
            <a:r>
              <a:rPr lang="en-US" altLang="en-GB" sz="2000" b="1">
                <a:solidFill>
                  <a:srgbClr val="FF0000"/>
                </a:solidFill>
                <a:latin typeface="Times New Roman" panose="02020603050405020304" charset="0"/>
                <a:cs typeface="Times New Roman" panose="02020603050405020304" charset="0"/>
                <a:sym typeface="+mn-ea"/>
              </a:rPr>
              <a:t>Work Flow of the project </a:t>
            </a:r>
            <a:endParaRPr lang="en-US" altLang="en-GB" sz="2000" b="1">
              <a:solidFill>
                <a:srgbClr val="FF0000"/>
              </a:solidFill>
              <a:latin typeface="Times New Roman" panose="02020603050405020304" charset="0"/>
              <a:cs typeface="Times New Roman" panose="02020603050405020304" charset="0"/>
              <a:sym typeface="+mn-ea"/>
            </a:endParaRPr>
          </a:p>
          <a:p>
            <a:pPr marL="0" lvl="1"/>
            <a:endParaRPr lang="en-US" altLang="en-GB" sz="1200" b="1">
              <a:solidFill>
                <a:schemeClr val="tx1"/>
              </a:solidFill>
              <a:latin typeface="Times New Roman" panose="02020603050405020304" charset="0"/>
              <a:cs typeface="Times New Roman" panose="02020603050405020304" charset="0"/>
              <a:sym typeface="+mn-ea"/>
            </a:endParaRPr>
          </a:p>
          <a:p>
            <a:pPr marL="914400" lvl="3" indent="457200"/>
            <a:endParaRPr lang="en-US" altLang="en-GB" sz="1200" b="1">
              <a:solidFill>
                <a:schemeClr val="tx1"/>
              </a:solidFill>
              <a:latin typeface="Times New Roman" panose="02020603050405020304" charset="0"/>
              <a:cs typeface="Times New Roman" panose="02020603050405020304" charset="0"/>
              <a:sym typeface="+mn-ea"/>
            </a:endParaRPr>
          </a:p>
          <a:p>
            <a:pPr marL="914400" lvl="3" indent="457200"/>
            <a:r>
              <a:rPr lang="en-US" altLang="en-GB" sz="1200" b="1">
                <a:solidFill>
                  <a:schemeClr val="tx1"/>
                </a:solidFill>
                <a:latin typeface="Times New Roman" panose="02020603050405020304" charset="0"/>
                <a:cs typeface="Times New Roman" panose="02020603050405020304" charset="0"/>
                <a:sym typeface="+mn-ea"/>
              </a:rPr>
              <a:t>Exploratory Data Analysis</a:t>
            </a:r>
            <a:endParaRPr lang="en-US" altLang="en-GB" sz="1200" b="1">
              <a:solidFill>
                <a:schemeClr val="tx1"/>
              </a:solidFill>
              <a:latin typeface="Times New Roman" panose="02020603050405020304" charset="0"/>
              <a:cs typeface="Times New Roman" panose="02020603050405020304" charset="0"/>
              <a:sym typeface="+mn-ea"/>
            </a:endParaRPr>
          </a:p>
          <a:p>
            <a:pPr marL="2171700" lvl="5" indent="-342900">
              <a:buAutoNum type="arabicPeriod"/>
            </a:pPr>
            <a:r>
              <a:rPr lang="en-US" altLang="en-GB" sz="1200">
                <a:solidFill>
                  <a:schemeClr val="tx1"/>
                </a:solidFill>
                <a:latin typeface="Times New Roman" panose="02020603050405020304" charset="0"/>
                <a:cs typeface="Times New Roman" panose="02020603050405020304" charset="0"/>
                <a:sym typeface="+mn-ea"/>
              </a:rPr>
              <a:t>Image Transformation</a:t>
            </a:r>
            <a:endParaRPr lang="en-US" altLang="en-GB" sz="1200">
              <a:solidFill>
                <a:schemeClr val="tx1"/>
              </a:solidFill>
              <a:latin typeface="Times New Roman" panose="02020603050405020304" charset="0"/>
              <a:cs typeface="Times New Roman" panose="02020603050405020304" charset="0"/>
              <a:sym typeface="+mn-ea"/>
            </a:endParaRPr>
          </a:p>
          <a:p>
            <a:pPr marL="2628900" lvl="6" indent="-342900">
              <a:buAutoNum type="arabicPeriod"/>
            </a:pPr>
            <a:r>
              <a:rPr lang="en-US" altLang="en-GB" sz="1200">
                <a:solidFill>
                  <a:schemeClr val="tx1"/>
                </a:solidFill>
                <a:latin typeface="Times New Roman" panose="02020603050405020304" charset="0"/>
                <a:cs typeface="Times New Roman" panose="02020603050405020304" charset="0"/>
                <a:sym typeface="+mn-ea"/>
              </a:rPr>
              <a:t>converting into dataframe </a:t>
            </a:r>
            <a:endParaRPr lang="en-US" altLang="en-GB" sz="1200">
              <a:solidFill>
                <a:schemeClr val="tx1"/>
              </a:solidFill>
              <a:latin typeface="Times New Roman" panose="02020603050405020304" charset="0"/>
              <a:cs typeface="Times New Roman" panose="02020603050405020304" charset="0"/>
              <a:sym typeface="+mn-ea"/>
            </a:endParaRPr>
          </a:p>
          <a:p>
            <a:pPr marL="2171700" lvl="5" indent="-342900">
              <a:buAutoNum type="arabicPeriod"/>
            </a:pPr>
            <a:r>
              <a:rPr lang="en-US" altLang="en-GB" sz="1200">
                <a:solidFill>
                  <a:schemeClr val="tx1"/>
                </a:solidFill>
                <a:latin typeface="Times New Roman" panose="02020603050405020304" charset="0"/>
                <a:cs typeface="Times New Roman" panose="02020603050405020304" charset="0"/>
                <a:sym typeface="+mn-ea"/>
              </a:rPr>
              <a:t>Validating the data</a:t>
            </a:r>
            <a:endParaRPr lang="en-US" altLang="en-GB" sz="1200">
              <a:solidFill>
                <a:schemeClr val="tx1"/>
              </a:solidFill>
              <a:latin typeface="Times New Roman" panose="02020603050405020304" charset="0"/>
              <a:cs typeface="Times New Roman" panose="02020603050405020304" charset="0"/>
              <a:sym typeface="+mn-ea"/>
            </a:endParaRPr>
          </a:p>
          <a:p>
            <a:pPr marL="2628900" lvl="6" indent="-342900">
              <a:buAutoNum type="arabicPeriod"/>
            </a:pPr>
            <a:r>
              <a:rPr lang="en-US" altLang="en-GB" sz="1200">
                <a:solidFill>
                  <a:schemeClr val="tx1"/>
                </a:solidFill>
                <a:latin typeface="Times New Roman" panose="02020603050405020304" charset="0"/>
                <a:cs typeface="Times New Roman" panose="02020603050405020304" charset="0"/>
                <a:sym typeface="+mn-ea"/>
              </a:rPr>
              <a:t>checking the null </a:t>
            </a:r>
            <a:endParaRPr lang="en-US" altLang="en-GB" sz="1200">
              <a:solidFill>
                <a:schemeClr val="tx1"/>
              </a:solidFill>
              <a:latin typeface="Times New Roman" panose="02020603050405020304" charset="0"/>
              <a:cs typeface="Times New Roman" panose="02020603050405020304" charset="0"/>
              <a:sym typeface="+mn-ea"/>
            </a:endParaRPr>
          </a:p>
          <a:p>
            <a:pPr marL="2628900" lvl="6" indent="-342900">
              <a:buAutoNum type="arabicPeriod"/>
            </a:pPr>
            <a:r>
              <a:rPr lang="en-US" altLang="en-GB" sz="1200">
                <a:solidFill>
                  <a:schemeClr val="tx1"/>
                </a:solidFill>
                <a:latin typeface="Times New Roman" panose="02020603050405020304" charset="0"/>
                <a:cs typeface="Times New Roman" panose="02020603050405020304" charset="0"/>
                <a:sym typeface="+mn-ea"/>
              </a:rPr>
              <a:t>checking the duplicates</a:t>
            </a:r>
            <a:endParaRPr lang="en-US" altLang="en-GB" sz="1200">
              <a:solidFill>
                <a:schemeClr val="tx1"/>
              </a:solidFill>
              <a:latin typeface="Times New Roman" panose="02020603050405020304" charset="0"/>
              <a:cs typeface="Times New Roman" panose="02020603050405020304" charset="0"/>
              <a:sym typeface="+mn-ea"/>
            </a:endParaRPr>
          </a:p>
          <a:p>
            <a:pPr marL="914400" lvl="3" indent="457200"/>
            <a:r>
              <a:rPr lang="en-US" altLang="en-GB" sz="1200" b="1">
                <a:solidFill>
                  <a:schemeClr val="tx1"/>
                </a:solidFill>
                <a:latin typeface="Times New Roman" panose="02020603050405020304" charset="0"/>
                <a:cs typeface="Times New Roman" panose="02020603050405020304" charset="0"/>
                <a:sym typeface="+mn-ea"/>
              </a:rPr>
              <a:t>Model Building</a:t>
            </a:r>
            <a:endParaRPr lang="en-US" altLang="en-GB" sz="1200" b="1">
              <a:solidFill>
                <a:schemeClr val="tx1"/>
              </a:solidFill>
              <a:latin typeface="Times New Roman" panose="02020603050405020304" charset="0"/>
              <a:cs typeface="Times New Roman" panose="02020603050405020304" charset="0"/>
              <a:sym typeface="+mn-ea"/>
            </a:endParaRPr>
          </a:p>
          <a:p>
            <a:pPr marL="2171700" lvl="5" indent="-342900">
              <a:buAutoNum type="arabicPeriod"/>
            </a:pPr>
            <a:r>
              <a:rPr lang="en-US" altLang="en-GB" sz="1200">
                <a:solidFill>
                  <a:schemeClr val="tx1"/>
                </a:solidFill>
                <a:latin typeface="Times New Roman" panose="02020603050405020304" charset="0"/>
                <a:cs typeface="Times New Roman" panose="02020603050405020304" charset="0"/>
                <a:sym typeface="+mn-ea"/>
              </a:rPr>
              <a:t>Selecting the X and y</a:t>
            </a:r>
            <a:endParaRPr lang="en-US" altLang="en-GB" sz="1200">
              <a:solidFill>
                <a:schemeClr val="tx1"/>
              </a:solidFill>
              <a:latin typeface="Times New Roman" panose="02020603050405020304" charset="0"/>
              <a:cs typeface="Times New Roman" panose="02020603050405020304" charset="0"/>
              <a:sym typeface="+mn-ea"/>
            </a:endParaRPr>
          </a:p>
          <a:p>
            <a:pPr marL="2171700" lvl="5" indent="-342900">
              <a:buAutoNum type="arabicPeriod"/>
            </a:pPr>
            <a:r>
              <a:rPr lang="en-IN" altLang="en-US" sz="1200">
                <a:solidFill>
                  <a:schemeClr val="tx1"/>
                </a:solidFill>
                <a:latin typeface="Times New Roman" panose="02020603050405020304" charset="0"/>
                <a:cs typeface="Times New Roman" panose="02020603050405020304" charset="0"/>
                <a:sym typeface="+mn-ea"/>
              </a:rPr>
              <a:t>Splitting the data </a:t>
            </a:r>
            <a:endParaRPr lang="en-US" altLang="en-GB" sz="1200">
              <a:solidFill>
                <a:schemeClr val="tx1"/>
              </a:solidFill>
              <a:latin typeface="Times New Roman" panose="02020603050405020304" charset="0"/>
              <a:cs typeface="Times New Roman" panose="02020603050405020304" charset="0"/>
              <a:sym typeface="+mn-ea"/>
            </a:endParaRPr>
          </a:p>
          <a:p>
            <a:pPr marL="2171700" lvl="5" indent="-342900">
              <a:buAutoNum type="arabicPeriod"/>
            </a:pPr>
            <a:r>
              <a:rPr lang="en-US" altLang="zh-CN" sz="1200" i="0">
                <a:solidFill>
                  <a:schemeClr val="tx1"/>
                </a:solidFill>
                <a:latin typeface="Times New Roman" panose="02020603050405020304" charset="0"/>
                <a:ea typeface="Arial" panose="020B0604020202020204"/>
                <a:cs typeface="Times New Roman" panose="02020603050405020304" charset="0"/>
              </a:rPr>
              <a:t>Hyperparameter tuning</a:t>
            </a:r>
            <a:endParaRPr lang="en-US" altLang="zh-CN" sz="1200" i="0">
              <a:solidFill>
                <a:schemeClr val="tx1"/>
              </a:solidFill>
              <a:latin typeface="Times New Roman" panose="02020603050405020304" charset="0"/>
              <a:ea typeface="Arial" panose="020B0604020202020204"/>
              <a:cs typeface="Times New Roman" panose="02020603050405020304" charset="0"/>
            </a:endParaRPr>
          </a:p>
          <a:p>
            <a:pPr marL="2171700" lvl="5" indent="-342900">
              <a:buAutoNum type="arabicPeriod"/>
            </a:pPr>
            <a:r>
              <a:rPr lang="en-IN" altLang="en-US" sz="1200" i="0">
                <a:solidFill>
                  <a:schemeClr val="tx1"/>
                </a:solidFill>
                <a:latin typeface="Times New Roman" panose="02020603050405020304" charset="0"/>
                <a:ea typeface="Arial" panose="020B0604020202020204"/>
                <a:cs typeface="Times New Roman" panose="02020603050405020304" charset="0"/>
              </a:rPr>
              <a:t>Best </a:t>
            </a:r>
            <a:r>
              <a:rPr lang="en-US" altLang="en-IN" sz="1200" i="0">
                <a:solidFill>
                  <a:schemeClr val="tx1"/>
                </a:solidFill>
                <a:latin typeface="Times New Roman" panose="02020603050405020304" charset="0"/>
                <a:ea typeface="Arial" panose="020B0604020202020204"/>
                <a:cs typeface="Times New Roman" panose="02020603050405020304" charset="0"/>
              </a:rPr>
              <a:t>ANN </a:t>
            </a:r>
            <a:r>
              <a:rPr lang="en-US" altLang="zh-CN" sz="1200" i="0">
                <a:solidFill>
                  <a:schemeClr val="tx1"/>
                </a:solidFill>
                <a:latin typeface="Times New Roman" panose="02020603050405020304" charset="0"/>
                <a:ea typeface="Arial" panose="020B0604020202020204"/>
                <a:cs typeface="Times New Roman" panose="02020603050405020304" charset="0"/>
              </a:rPr>
              <a:t>Model Building</a:t>
            </a:r>
            <a:endParaRPr lang="en-US" altLang="zh-CN" sz="1200" i="0">
              <a:solidFill>
                <a:schemeClr val="tx1"/>
              </a:solidFill>
              <a:latin typeface="Times New Roman" panose="02020603050405020304" charset="0"/>
              <a:ea typeface="Arial" panose="020B0604020202020204"/>
              <a:cs typeface="Times New Roman" panose="02020603050405020304" charset="0"/>
            </a:endParaRPr>
          </a:p>
          <a:p>
            <a:pPr marL="2171700" lvl="5" indent="-342900">
              <a:buAutoNum type="arabicPeriod"/>
            </a:pPr>
            <a:r>
              <a:rPr lang="en-US" altLang="zh-CN" sz="1200" i="0">
                <a:solidFill>
                  <a:schemeClr val="tx1"/>
                </a:solidFill>
                <a:latin typeface="Times New Roman" panose="02020603050405020304" charset="0"/>
                <a:ea typeface="Arial" panose="020B0604020202020204"/>
                <a:cs typeface="Times New Roman" panose="02020603050405020304" charset="0"/>
              </a:rPr>
              <a:t>Application building</a:t>
            </a:r>
            <a:endParaRPr lang="en-US" altLang="zh-CN" sz="1200" i="0">
              <a:solidFill>
                <a:schemeClr val="tx1"/>
              </a:solidFill>
              <a:latin typeface="Times New Roman" panose="02020603050405020304" charset="0"/>
              <a:ea typeface="Arial" panose="020B0604020202020204"/>
              <a:cs typeface="Times New Roman" panose="02020603050405020304" charset="0"/>
            </a:endParaRPr>
          </a:p>
          <a:p>
            <a:pPr marL="2171700" lvl="5" indent="-342900">
              <a:buAutoNum type="arabicPeriod"/>
            </a:pPr>
            <a:r>
              <a:rPr lang="en-US" altLang="zh-CN" sz="1200" i="0">
                <a:solidFill>
                  <a:schemeClr val="tx1"/>
                </a:solidFill>
                <a:latin typeface="Times New Roman" panose="02020603050405020304" charset="0"/>
                <a:ea typeface="Arial" panose="020B0604020202020204"/>
                <a:cs typeface="Times New Roman" panose="02020603050405020304" charset="0"/>
              </a:rPr>
              <a:t>Deployement</a:t>
            </a:r>
            <a:endParaRPr lang="en-US" altLang="zh-CN" sz="1200" i="0">
              <a:solidFill>
                <a:schemeClr val="tx1"/>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cxnSp>
        <p:nvCxnSpPr>
          <p:cNvPr id="3" name="Straight Arrow Connector 2"/>
          <p:cNvCxnSpPr/>
          <p:nvPr/>
        </p:nvCxnSpPr>
        <p:spPr>
          <a:xfrm>
            <a:off x="1883410" y="993775"/>
            <a:ext cx="36195" cy="2946400"/>
          </a:xfrm>
          <a:prstGeom prst="straightConnector1">
            <a:avLst/>
          </a:prstGeom>
          <a:ln>
            <a:tailEnd type="arrow" w="med" len="med"/>
          </a:ln>
        </p:spPr>
        <p:style>
          <a:lnRef idx="2">
            <a:schemeClr val="accent3"/>
          </a:lnRef>
          <a:fillRef idx="0">
            <a:srgbClr val="FFFFFF"/>
          </a:fillRef>
          <a:effectRef idx="0">
            <a:srgbClr val="FFFFFF"/>
          </a:effectRef>
          <a:fontRef idx="minor">
            <a:schemeClr val="tx1"/>
          </a:fontRef>
        </p:style>
      </p:cxnSp>
      <p:sp>
        <p:nvSpPr>
          <p:cNvPr id="5" name="Oval 4"/>
          <p:cNvSpPr/>
          <p:nvPr/>
        </p:nvSpPr>
        <p:spPr>
          <a:xfrm>
            <a:off x="1823085" y="1075690"/>
            <a:ext cx="133350" cy="173355"/>
          </a:xfrm>
          <a:prstGeom prst="ellipse">
            <a:avLst/>
          </a:prstGeom>
        </p:spPr>
        <p:style>
          <a:lnRef idx="0">
            <a:srgbClr val="FFFFFF"/>
          </a:lnRef>
          <a:fillRef idx="2">
            <a:schemeClr val="accent6"/>
          </a:fillRef>
          <a:effectRef idx="1">
            <a:schemeClr val="accent6"/>
          </a:effectRef>
          <a:fontRef idx="minor">
            <a:schemeClr val="dk1"/>
          </a:fontRef>
        </p:style>
        <p:txBody>
          <a:bodyPr rtlCol="0" anchor="ctr"/>
          <a:p>
            <a:pPr algn="ctr"/>
            <a:endParaRPr lang="en-US"/>
          </a:p>
        </p:txBody>
      </p:sp>
      <p:sp>
        <p:nvSpPr>
          <p:cNvPr id="6" name="Oval 5"/>
          <p:cNvSpPr/>
          <p:nvPr/>
        </p:nvSpPr>
        <p:spPr>
          <a:xfrm>
            <a:off x="1822450" y="2168525"/>
            <a:ext cx="133985" cy="173355"/>
          </a:xfrm>
          <a:prstGeom prst="ellipse">
            <a:avLst/>
          </a:prstGeom>
        </p:spPr>
        <p:style>
          <a:lnRef idx="0">
            <a:srgbClr val="FFFFFF"/>
          </a:lnRef>
          <a:fillRef idx="2">
            <a:schemeClr val="accent6"/>
          </a:fillRef>
          <a:effectRef idx="1">
            <a:schemeClr val="accent6"/>
          </a:effectRef>
          <a:fontRef idx="minor">
            <a:schemeClr val="dk1"/>
          </a:fontRef>
        </p:style>
        <p:txBody>
          <a:bodyPr rtlCol="0" anchor="ctr"/>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601345"/>
            <a:ext cx="8152765" cy="4171950"/>
          </a:xfrm>
          <a:prstGeom prst="rect">
            <a:avLst/>
          </a:prstGeom>
          <a:noFill/>
        </p:spPr>
        <p:txBody>
          <a:bodyPr wrap="square" rtlCol="0">
            <a:noAutofit/>
          </a:bodyPr>
          <a:p>
            <a:pPr marL="0" lvl="1"/>
            <a:r>
              <a:rPr lang="en-US" sz="2000" b="1">
                <a:solidFill>
                  <a:srgbClr val="FF0000"/>
                </a:solidFill>
                <a:latin typeface="Times New Roman" panose="02020603050405020304" charset="0"/>
                <a:cs typeface="Times New Roman" panose="02020603050405020304" charset="0"/>
              </a:rPr>
              <a:t>Technologies</a:t>
            </a:r>
            <a:endParaRPr lang="en-US" sz="2000" b="1">
              <a:solidFill>
                <a:srgbClr val="FF0000"/>
              </a:solidFill>
              <a:latin typeface="Times New Roman" panose="02020603050405020304" charset="0"/>
              <a:cs typeface="Times New Roman" panose="02020603050405020304" charset="0"/>
            </a:endParaRPr>
          </a:p>
          <a:p>
            <a:pPr marL="0" lvl="1"/>
            <a:endParaRPr lang="en-US" sz="2000" b="1">
              <a:solidFill>
                <a:srgbClr val="FF0000"/>
              </a:solidFill>
              <a:latin typeface="Times New Roman" panose="02020603050405020304" charset="0"/>
              <a:cs typeface="Times New Roman" panose="02020603050405020304" charset="0"/>
            </a:endParaRPr>
          </a:p>
          <a:p>
            <a:pPr marL="457200" lvl="2">
              <a:lnSpc>
                <a:spcPct val="200000"/>
              </a:lnSpc>
            </a:pPr>
            <a:r>
              <a:rPr lang="en-IN" altLang="en-US" sz="1600">
                <a:solidFill>
                  <a:schemeClr val="tx1"/>
                </a:solidFill>
                <a:latin typeface="Times New Roman" panose="02020603050405020304" charset="0"/>
                <a:cs typeface="Times New Roman" panose="02020603050405020304" charset="0"/>
              </a:rPr>
              <a:t>1. Numpy </a:t>
            </a:r>
            <a:endParaRPr lang="en-IN" altLang="en-US" sz="1600">
              <a:solidFill>
                <a:schemeClr val="tx1"/>
              </a:solidFill>
              <a:latin typeface="Times New Roman" panose="02020603050405020304" charset="0"/>
              <a:cs typeface="Times New Roman" panose="02020603050405020304" charset="0"/>
            </a:endParaRPr>
          </a:p>
          <a:p>
            <a:pPr marL="457200" lvl="2">
              <a:lnSpc>
                <a:spcPct val="200000"/>
              </a:lnSpc>
            </a:pPr>
            <a:r>
              <a:rPr lang="en-IN" altLang="en-US" sz="1600">
                <a:solidFill>
                  <a:schemeClr val="tx1"/>
                </a:solidFill>
                <a:latin typeface="Times New Roman" panose="02020603050405020304" charset="0"/>
                <a:cs typeface="Times New Roman" panose="02020603050405020304" charset="0"/>
              </a:rPr>
              <a:t>2. Pandas</a:t>
            </a:r>
            <a:endParaRPr lang="en-IN" altLang="en-US" sz="1600">
              <a:solidFill>
                <a:schemeClr val="tx1"/>
              </a:solidFill>
              <a:latin typeface="Times New Roman" panose="02020603050405020304" charset="0"/>
              <a:cs typeface="Times New Roman" panose="02020603050405020304" charset="0"/>
            </a:endParaRPr>
          </a:p>
          <a:p>
            <a:pPr marL="457200" lvl="2">
              <a:lnSpc>
                <a:spcPct val="200000"/>
              </a:lnSpc>
            </a:pPr>
            <a:r>
              <a:rPr lang="en-IN" altLang="en-US" sz="1600">
                <a:solidFill>
                  <a:schemeClr val="tx1"/>
                </a:solidFill>
                <a:latin typeface="Times New Roman" panose="02020603050405020304" charset="0"/>
                <a:cs typeface="Times New Roman" panose="02020603050405020304" charset="0"/>
              </a:rPr>
              <a:t>3. Scikit-learn</a:t>
            </a:r>
            <a:endParaRPr lang="en-IN" altLang="en-US" sz="1600">
              <a:solidFill>
                <a:schemeClr val="tx1"/>
              </a:solidFill>
              <a:latin typeface="Times New Roman" panose="02020603050405020304" charset="0"/>
              <a:cs typeface="Times New Roman" panose="02020603050405020304" charset="0"/>
            </a:endParaRPr>
          </a:p>
          <a:p>
            <a:pPr marL="457200" lvl="2">
              <a:lnSpc>
                <a:spcPct val="200000"/>
              </a:lnSpc>
            </a:pPr>
            <a:r>
              <a:rPr lang="en-US" altLang="en-IN" sz="1600">
                <a:solidFill>
                  <a:schemeClr val="tx1"/>
                </a:solidFill>
                <a:latin typeface="Times New Roman" panose="02020603050405020304" charset="0"/>
                <a:cs typeface="Times New Roman" panose="02020603050405020304" charset="0"/>
              </a:rPr>
              <a:t>4. Opencv-python</a:t>
            </a:r>
            <a:endParaRPr lang="en-US" altLang="en-IN" sz="1600">
              <a:solidFill>
                <a:schemeClr val="tx1"/>
              </a:solidFill>
              <a:latin typeface="Times New Roman" panose="02020603050405020304" charset="0"/>
              <a:cs typeface="Times New Roman" panose="02020603050405020304" charset="0"/>
            </a:endParaRPr>
          </a:p>
          <a:p>
            <a:pPr marL="457200" lvl="2">
              <a:lnSpc>
                <a:spcPct val="200000"/>
              </a:lnSpc>
            </a:pPr>
            <a:r>
              <a:rPr lang="en-US" altLang="en-IN" sz="1600">
                <a:solidFill>
                  <a:schemeClr val="tx1"/>
                </a:solidFill>
                <a:latin typeface="Times New Roman" panose="02020603050405020304" charset="0"/>
                <a:cs typeface="Times New Roman" panose="02020603050405020304" charset="0"/>
              </a:rPr>
              <a:t>5. Mediapipe </a:t>
            </a:r>
            <a:endParaRPr lang="en-US" altLang="en-IN" sz="1600">
              <a:solidFill>
                <a:schemeClr val="tx1"/>
              </a:solidFill>
              <a:latin typeface="Times New Roman" panose="02020603050405020304" charset="0"/>
              <a:cs typeface="Times New Roman" panose="02020603050405020304" charset="0"/>
            </a:endParaRPr>
          </a:p>
          <a:p>
            <a:pPr marL="457200" lvl="2">
              <a:lnSpc>
                <a:spcPct val="200000"/>
              </a:lnSpc>
            </a:pPr>
            <a:r>
              <a:rPr lang="en-US" altLang="en-IN" sz="1600">
                <a:solidFill>
                  <a:schemeClr val="tx1"/>
                </a:solidFill>
                <a:latin typeface="Times New Roman" panose="02020603050405020304" charset="0"/>
                <a:cs typeface="Times New Roman" panose="02020603050405020304" charset="0"/>
              </a:rPr>
              <a:t>6. keras </a:t>
            </a:r>
            <a:endParaRPr lang="en-IN" altLang="en-US" sz="1600">
              <a:solidFill>
                <a:schemeClr val="tx1"/>
              </a:solidFill>
              <a:latin typeface="Times New Roman" panose="02020603050405020304" charset="0"/>
              <a:cs typeface="Times New Roman" panose="02020603050405020304" charset="0"/>
            </a:endParaRPr>
          </a:p>
          <a:p>
            <a:pPr marL="0" lvl="1"/>
            <a:r>
              <a:rPr lang="en-US" sz="1600">
                <a:solidFill>
                  <a:schemeClr val="tx1"/>
                </a:solidFill>
                <a:latin typeface="Times New Roman" panose="02020603050405020304" charset="0"/>
                <a:cs typeface="Times New Roman" panose="02020603050405020304" charset="0"/>
              </a:rPr>
              <a:t> </a:t>
            </a:r>
            <a:endParaRPr lang="en-US" sz="1600">
              <a:solidFill>
                <a:schemeClr val="tx1"/>
              </a:solidFill>
              <a:latin typeface="Times New Roman" panose="02020603050405020304" charset="0"/>
              <a:cs typeface="Times New Roman" panose="02020603050405020304" charset="0"/>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4" name="Text Box 3"/>
          <p:cNvSpPr txBox="1"/>
          <p:nvPr/>
        </p:nvSpPr>
        <p:spPr>
          <a:xfrm>
            <a:off x="0" y="0"/>
            <a:ext cx="9143365" cy="5143500"/>
          </a:xfrm>
          <a:prstGeom prst="rect">
            <a:avLst/>
          </a:prstGeom>
          <a:noFill/>
        </p:spPr>
        <p:txBody>
          <a:bodyPr wrap="square" rtlCol="0" anchor="ctr" anchorCtr="0">
            <a:noAutofit/>
          </a:bodyPr>
          <a:p>
            <a:pPr algn="ctr"/>
            <a:r>
              <a:rPr lang="en-IN" altLang="en-GB" sz="2800" b="1">
                <a:solidFill>
                  <a:srgbClr val="FF0000"/>
                </a:solidFill>
                <a:latin typeface="Times New Roman" panose="02020603050405020304" charset="0"/>
                <a:cs typeface="Times New Roman" panose="02020603050405020304" charset="0"/>
                <a:sym typeface="+mn-ea"/>
              </a:rPr>
              <a:t>Exploratory Data Analysis</a:t>
            </a:r>
            <a:r>
              <a:rPr lang="en-GB" sz="2800" b="1">
                <a:solidFill>
                  <a:srgbClr val="FF0000"/>
                </a:solidFill>
                <a:latin typeface="Times New Roman" panose="02020603050405020304" charset="0"/>
                <a:cs typeface="Times New Roman" panose="02020603050405020304" charset="0"/>
                <a:sym typeface="+mn-ea"/>
              </a:rPr>
              <a:t> </a:t>
            </a:r>
            <a:endParaRPr lang="en-GB" sz="2800" b="1">
              <a:solidFill>
                <a:srgbClr val="FF0000"/>
              </a:solidFill>
              <a:latin typeface="Times New Roman" panose="02020603050405020304" charset="0"/>
              <a:cs typeface="Times New Roman" panose="0202060305040502030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601345"/>
            <a:ext cx="8152765" cy="4171950"/>
          </a:xfrm>
          <a:prstGeom prst="rect">
            <a:avLst/>
          </a:prstGeom>
          <a:noFill/>
        </p:spPr>
        <p:txBody>
          <a:bodyPr wrap="square" rtlCol="0">
            <a:noAutofit/>
          </a:bodyPr>
          <a:p>
            <a:pPr marL="0" lvl="1"/>
            <a:r>
              <a:rPr lang="en-US" altLang="en-US" sz="2000" b="1">
                <a:solidFill>
                  <a:srgbClr val="FF0000"/>
                </a:solidFill>
                <a:latin typeface="Times New Roman" panose="02020603050405020304" charset="0"/>
                <a:cs typeface="Times New Roman" panose="02020603050405020304" charset="0"/>
                <a:sym typeface="+mn-ea"/>
              </a:rPr>
              <a:t>Image Transformation</a:t>
            </a:r>
            <a:endParaRPr lang="en-US" altLang="en-US" sz="2000" b="1">
              <a:solidFill>
                <a:srgbClr val="FF0000"/>
              </a:solidFill>
              <a:latin typeface="Times New Roman" panose="02020603050405020304" charset="0"/>
              <a:cs typeface="Times New Roman" panose="02020603050405020304" charset="0"/>
              <a:sym typeface="+mn-ea"/>
            </a:endParaRPr>
          </a:p>
          <a:p>
            <a:pPr marL="0" lvl="1"/>
            <a:endParaRPr lang="en-US" altLang="en-US" sz="2000" b="1">
              <a:solidFill>
                <a:srgbClr val="FF0000"/>
              </a:solidFill>
              <a:latin typeface="Times New Roman" panose="02020603050405020304" charset="0"/>
              <a:cs typeface="Times New Roman" panose="02020603050405020304" charset="0"/>
              <a:sym typeface="+mn-ea"/>
            </a:endParaRPr>
          </a:p>
          <a:p>
            <a:pPr marL="628650" lvl="2" indent="-171450">
              <a:lnSpc>
                <a:spcPct val="250000"/>
              </a:lnSpc>
              <a:buFont typeface="Arial" panose="020B0604020202020204" pitchFamily="34" charset="0"/>
              <a:buChar char="•"/>
            </a:pPr>
            <a:r>
              <a:rPr lang="en-US" altLang="en-US" sz="1200" b="1">
                <a:solidFill>
                  <a:schemeClr val="tx1"/>
                </a:solidFill>
                <a:latin typeface="Times New Roman" panose="02020603050405020304" charset="0"/>
                <a:cs typeface="Times New Roman" panose="02020603050405020304" charset="0"/>
                <a:sym typeface="+mn-ea"/>
              </a:rPr>
              <a:t>Image Loading:</a:t>
            </a:r>
            <a:r>
              <a:rPr lang="en-US" altLang="en-US" sz="1200">
                <a:solidFill>
                  <a:schemeClr val="tx1"/>
                </a:solidFill>
                <a:latin typeface="Times New Roman" panose="02020603050405020304" charset="0"/>
                <a:cs typeface="Times New Roman" panose="02020603050405020304" charset="0"/>
                <a:sym typeface="+mn-ea"/>
              </a:rPr>
              <a:t> Load the input image.</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50000"/>
              </a:lnSpc>
              <a:buFont typeface="Arial" panose="020B0604020202020204" pitchFamily="34" charset="0"/>
              <a:buChar char="•"/>
            </a:pPr>
            <a:r>
              <a:rPr lang="en-US" altLang="en-US" sz="1200" b="1">
                <a:solidFill>
                  <a:schemeClr val="tx1"/>
                </a:solidFill>
                <a:latin typeface="Times New Roman" panose="02020603050405020304" charset="0"/>
                <a:cs typeface="Times New Roman" panose="02020603050405020304" charset="0"/>
                <a:sym typeface="+mn-ea"/>
              </a:rPr>
              <a:t> Conversion:</a:t>
            </a:r>
            <a:r>
              <a:rPr lang="en-US" altLang="en-US" sz="1200">
                <a:solidFill>
                  <a:schemeClr val="tx1"/>
                </a:solidFill>
                <a:latin typeface="Times New Roman" panose="02020603050405020304" charset="0"/>
                <a:cs typeface="Times New Roman" panose="02020603050405020304" charset="0"/>
                <a:sym typeface="+mn-ea"/>
              </a:rPr>
              <a:t> Convert the image to BGR to RGB.</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50000"/>
              </a:lnSpc>
              <a:buFont typeface="Arial" panose="020B0604020202020204" pitchFamily="34" charset="0"/>
              <a:buChar char="•"/>
            </a:pPr>
            <a:r>
              <a:rPr lang="en-US" altLang="en-US" sz="1200" b="1">
                <a:solidFill>
                  <a:schemeClr val="tx1"/>
                </a:solidFill>
                <a:latin typeface="Times New Roman" panose="02020603050405020304" charset="0"/>
                <a:cs typeface="Times New Roman" panose="02020603050405020304" charset="0"/>
                <a:sym typeface="+mn-ea"/>
              </a:rPr>
              <a:t>Image Compression</a:t>
            </a:r>
            <a:r>
              <a:rPr lang="en-US" altLang="en-US" sz="1200">
                <a:solidFill>
                  <a:schemeClr val="tx1"/>
                </a:solidFill>
                <a:latin typeface="Times New Roman" panose="02020603050405020304" charset="0"/>
                <a:cs typeface="Times New Roman" panose="02020603050405020304" charset="0"/>
                <a:sym typeface="+mn-ea"/>
              </a:rPr>
              <a:t>: Resize the image to 32 × 32.</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50000"/>
              </a:lnSpc>
              <a:buFont typeface="Arial" panose="020B0604020202020204" pitchFamily="34" charset="0"/>
              <a:buChar char="•"/>
            </a:pPr>
            <a:r>
              <a:rPr lang="en-US" altLang="en-US" sz="1200" b="1">
                <a:solidFill>
                  <a:schemeClr val="tx1"/>
                </a:solidFill>
                <a:latin typeface="Times New Roman" panose="02020603050405020304" charset="0"/>
                <a:cs typeface="Times New Roman" panose="02020603050405020304" charset="0"/>
                <a:sym typeface="+mn-ea"/>
              </a:rPr>
              <a:t>Array Conversion:</a:t>
            </a:r>
            <a:r>
              <a:rPr lang="en-US" altLang="en-US" sz="1200">
                <a:solidFill>
                  <a:schemeClr val="tx1"/>
                </a:solidFill>
                <a:latin typeface="Times New Roman" panose="02020603050405020304" charset="0"/>
                <a:cs typeface="Times New Roman" panose="02020603050405020304" charset="0"/>
                <a:sym typeface="+mn-ea"/>
              </a:rPr>
              <a:t> Convert the image into a NumPy array.</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50000"/>
              </a:lnSpc>
              <a:buFont typeface="Arial" panose="020B0604020202020204" pitchFamily="34" charset="0"/>
              <a:buChar char="•"/>
            </a:pPr>
            <a:r>
              <a:rPr lang="en-US" altLang="en-US" sz="1200" b="1">
                <a:solidFill>
                  <a:schemeClr val="tx1"/>
                </a:solidFill>
                <a:latin typeface="Times New Roman" panose="02020603050405020304" charset="0"/>
                <a:cs typeface="Times New Roman" panose="02020603050405020304" charset="0"/>
                <a:sym typeface="+mn-ea"/>
              </a:rPr>
              <a:t>Feature Extraction:</a:t>
            </a:r>
            <a:r>
              <a:rPr lang="en-US" altLang="en-US" sz="1200">
                <a:solidFill>
                  <a:schemeClr val="tx1"/>
                </a:solidFill>
                <a:latin typeface="Times New Roman" panose="02020603050405020304" charset="0"/>
                <a:cs typeface="Times New Roman" panose="02020603050405020304" charset="0"/>
                <a:sym typeface="+mn-ea"/>
              </a:rPr>
              <a:t> Flatten the image into a feature vector.</a:t>
            </a:r>
            <a:endParaRPr lang="en-US" altLang="en-US" sz="1200">
              <a:solidFill>
                <a:schemeClr val="tx1"/>
              </a:solidFill>
              <a:latin typeface="Times New Roman" panose="02020603050405020304" charset="0"/>
              <a:cs typeface="Times New Roman" panose="02020603050405020304" charset="0"/>
              <a:sym typeface="+mn-ea"/>
            </a:endParaRPr>
          </a:p>
          <a:p>
            <a:pPr marL="628650" lvl="2" indent="-171450">
              <a:lnSpc>
                <a:spcPct val="250000"/>
              </a:lnSpc>
              <a:buFont typeface="Arial" panose="020B0604020202020204" pitchFamily="34" charset="0"/>
              <a:buChar char="•"/>
            </a:pPr>
            <a:r>
              <a:rPr lang="en-US" altLang="en-US" sz="1200" b="1">
                <a:solidFill>
                  <a:schemeClr val="tx1"/>
                </a:solidFill>
                <a:latin typeface="Times New Roman" panose="02020603050405020304" charset="0"/>
                <a:cs typeface="Times New Roman" panose="02020603050405020304" charset="0"/>
                <a:sym typeface="+mn-ea"/>
              </a:rPr>
              <a:t>Model Input Preparation</a:t>
            </a:r>
            <a:r>
              <a:rPr lang="en-US" altLang="en-US" sz="1200">
                <a:solidFill>
                  <a:schemeClr val="tx1"/>
                </a:solidFill>
                <a:latin typeface="Times New Roman" panose="02020603050405020304" charset="0"/>
                <a:cs typeface="Times New Roman" panose="02020603050405020304" charset="0"/>
                <a:sym typeface="+mn-ea"/>
              </a:rPr>
              <a:t>: Store the transformed image for training and prediction.</a:t>
            </a:r>
            <a:endParaRPr lang="en-US" altLang="en-US" sz="1200">
              <a:solidFill>
                <a:schemeClr val="tx1"/>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601345"/>
            <a:ext cx="8152765" cy="4171950"/>
          </a:xfrm>
          <a:prstGeom prst="rect">
            <a:avLst/>
          </a:prstGeom>
          <a:noFill/>
        </p:spPr>
        <p:txBody>
          <a:bodyPr wrap="square" rtlCol="0">
            <a:noAutofit/>
          </a:bodyPr>
          <a:p>
            <a:pPr marL="0" lvl="1"/>
            <a:r>
              <a:rPr lang="en-US" altLang="en-US" sz="2000" b="1">
                <a:solidFill>
                  <a:srgbClr val="FF0000"/>
                </a:solidFill>
                <a:latin typeface="Times New Roman" panose="02020603050405020304" charset="0"/>
                <a:cs typeface="Times New Roman" panose="02020603050405020304" charset="0"/>
                <a:sym typeface="+mn-ea"/>
              </a:rPr>
              <a:t>Validating the data</a:t>
            </a:r>
            <a:endParaRPr lang="en-US" altLang="en-US" sz="2000" b="1">
              <a:solidFill>
                <a:srgbClr val="FF0000"/>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
        <p:nvSpPr>
          <p:cNvPr id="5" name="Text Box 4"/>
          <p:cNvSpPr txBox="1"/>
          <p:nvPr/>
        </p:nvSpPr>
        <p:spPr>
          <a:xfrm>
            <a:off x="639445" y="2192020"/>
            <a:ext cx="1998345" cy="306705"/>
          </a:xfrm>
          <a:prstGeom prst="rect">
            <a:avLst/>
          </a:prstGeom>
          <a:noFill/>
        </p:spPr>
        <p:txBody>
          <a:bodyPr wrap="square" rtlCol="0">
            <a:spAutoFit/>
          </a:bodyPr>
          <a:p>
            <a:r>
              <a:rPr lang="en-IN" altLang="en-US" u="sng">
                <a:latin typeface="Times New Roman" panose="02020603050405020304" charset="0"/>
                <a:cs typeface="Times New Roman" panose="02020603050405020304" charset="0"/>
              </a:rPr>
              <a:t>Checking the null values </a:t>
            </a:r>
            <a:endParaRPr lang="en-IN" altLang="en-US" u="sng">
              <a:latin typeface="Times New Roman" panose="02020603050405020304" charset="0"/>
              <a:cs typeface="Times New Roman" panose="02020603050405020304" charset="0"/>
            </a:endParaRPr>
          </a:p>
        </p:txBody>
      </p:sp>
      <p:sp>
        <p:nvSpPr>
          <p:cNvPr id="6" name="Text Box 5"/>
          <p:cNvSpPr txBox="1"/>
          <p:nvPr/>
        </p:nvSpPr>
        <p:spPr>
          <a:xfrm>
            <a:off x="5352415" y="2265045"/>
            <a:ext cx="2181225" cy="306705"/>
          </a:xfrm>
          <a:prstGeom prst="rect">
            <a:avLst/>
          </a:prstGeom>
          <a:noFill/>
        </p:spPr>
        <p:txBody>
          <a:bodyPr wrap="square" rtlCol="0">
            <a:spAutoFit/>
          </a:bodyPr>
          <a:p>
            <a:r>
              <a:rPr lang="en-IN" altLang="en-US" u="sng">
                <a:latin typeface="Times New Roman" panose="02020603050405020304" charset="0"/>
                <a:cs typeface="Times New Roman" panose="02020603050405020304" charset="0"/>
              </a:rPr>
              <a:t>Checking Duplicates </a:t>
            </a:r>
            <a:endParaRPr lang="en-IN" altLang="en-US" u="sng">
              <a:latin typeface="Times New Roman" panose="02020603050405020304" charset="0"/>
              <a:cs typeface="Times New Roman" panose="02020603050405020304" charset="0"/>
            </a:endParaRPr>
          </a:p>
        </p:txBody>
      </p:sp>
      <p:pic>
        <p:nvPicPr>
          <p:cNvPr id="3" name="Picture 2"/>
          <p:cNvPicPr>
            <a:picLocks noChangeAspect="1"/>
          </p:cNvPicPr>
          <p:nvPr/>
        </p:nvPicPr>
        <p:blipFill>
          <a:blip r:embed="rId1"/>
          <a:stretch>
            <a:fillRect/>
          </a:stretch>
        </p:blipFill>
        <p:spPr>
          <a:xfrm>
            <a:off x="639445" y="1069340"/>
            <a:ext cx="1998980" cy="979170"/>
          </a:xfrm>
          <a:prstGeom prst="rect">
            <a:avLst/>
          </a:prstGeom>
        </p:spPr>
      </p:pic>
      <p:pic>
        <p:nvPicPr>
          <p:cNvPr id="4" name="Picture 3"/>
          <p:cNvPicPr>
            <a:picLocks noChangeAspect="1"/>
          </p:cNvPicPr>
          <p:nvPr/>
        </p:nvPicPr>
        <p:blipFill>
          <a:blip r:embed="rId2"/>
          <a:stretch>
            <a:fillRect/>
          </a:stretch>
        </p:blipFill>
        <p:spPr>
          <a:xfrm>
            <a:off x="5234305" y="1069340"/>
            <a:ext cx="2180590" cy="9010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4" name="Text Box 3"/>
          <p:cNvSpPr txBox="1"/>
          <p:nvPr/>
        </p:nvSpPr>
        <p:spPr>
          <a:xfrm>
            <a:off x="0" y="0"/>
            <a:ext cx="9143365" cy="5143500"/>
          </a:xfrm>
          <a:prstGeom prst="rect">
            <a:avLst/>
          </a:prstGeom>
          <a:noFill/>
        </p:spPr>
        <p:txBody>
          <a:bodyPr wrap="square" rtlCol="0" anchor="ctr" anchorCtr="0">
            <a:noAutofit/>
          </a:bodyPr>
          <a:p>
            <a:pPr algn="ctr"/>
            <a:r>
              <a:rPr lang="en-IN" altLang="en-GB" sz="2800" b="1">
                <a:solidFill>
                  <a:srgbClr val="FF0000"/>
                </a:solidFill>
                <a:latin typeface="Times New Roman" panose="02020603050405020304" charset="0"/>
                <a:cs typeface="Times New Roman" panose="02020603050405020304" charset="0"/>
                <a:sym typeface="+mn-ea"/>
              </a:rPr>
              <a:t>Model Building and Evalution</a:t>
            </a:r>
            <a:endParaRPr lang="en-IN" altLang="en-GB" sz="2800" b="1">
              <a:solidFill>
                <a:srgbClr val="FF0000"/>
              </a:solidFill>
              <a:latin typeface="Times New Roman" panose="02020603050405020304" charset="0"/>
              <a:cs typeface="Times New Roman" panose="02020603050405020304"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172085" y="601345"/>
            <a:ext cx="8861425" cy="4171950"/>
          </a:xfrm>
          <a:prstGeom prst="rect">
            <a:avLst/>
          </a:prstGeom>
          <a:noFill/>
        </p:spPr>
        <p:txBody>
          <a:bodyPr wrap="square" rtlCol="0">
            <a:noAutofit/>
          </a:bodyPr>
          <a:p>
            <a:pPr marL="0" lvl="1"/>
            <a:r>
              <a:rPr lang="en-US" altLang="en-US" sz="2000" b="1">
                <a:solidFill>
                  <a:srgbClr val="FF0000"/>
                </a:solidFill>
                <a:latin typeface="Times New Roman" panose="02020603050405020304" charset="0"/>
                <a:cs typeface="Times New Roman" panose="02020603050405020304" charset="0"/>
                <a:sym typeface="+mn-ea"/>
              </a:rPr>
              <a:t>Selecting the X and y</a:t>
            </a:r>
            <a:r>
              <a:rPr lang="en-IN" altLang="en-US" sz="2000" b="1">
                <a:solidFill>
                  <a:srgbClr val="FF0000"/>
                </a:solidFill>
                <a:latin typeface="Times New Roman" panose="02020603050405020304" charset="0"/>
                <a:cs typeface="Times New Roman" panose="02020603050405020304" charset="0"/>
                <a:sym typeface="+mn-ea"/>
              </a:rPr>
              <a:t> &amp; </a:t>
            </a:r>
            <a:r>
              <a:rPr lang="en-US" altLang="en-US" sz="2000" b="1">
                <a:solidFill>
                  <a:srgbClr val="FF0000"/>
                </a:solidFill>
                <a:latin typeface="Times New Roman" panose="02020603050405020304" charset="0"/>
                <a:cs typeface="Times New Roman" panose="02020603050405020304" charset="0"/>
                <a:sym typeface="+mn-ea"/>
              </a:rPr>
              <a:t>Splitting the data</a:t>
            </a:r>
            <a:endParaRPr lang="en-US" altLang="en-US" sz="2000" b="1">
              <a:solidFill>
                <a:srgbClr val="FF0000"/>
              </a:solidFill>
              <a:latin typeface="Times New Roman" panose="02020603050405020304" charset="0"/>
              <a:cs typeface="Times New Roman" panose="02020603050405020304" charset="0"/>
              <a:sym typeface="+mn-ea"/>
            </a:endParaRPr>
          </a:p>
          <a:p>
            <a:pPr marL="0" lvl="1"/>
            <a:endParaRPr lang="en-US" altLang="en-US" sz="2000" b="1">
              <a:solidFill>
                <a:srgbClr val="FF0000"/>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
        <p:nvSpPr>
          <p:cNvPr id="4" name="Text Box 3"/>
          <p:cNvSpPr txBox="1"/>
          <p:nvPr/>
        </p:nvSpPr>
        <p:spPr>
          <a:xfrm>
            <a:off x="6022340" y="1634490"/>
            <a:ext cx="3406775" cy="306705"/>
          </a:xfrm>
          <a:prstGeom prst="rect">
            <a:avLst/>
          </a:prstGeom>
          <a:noFill/>
        </p:spPr>
        <p:txBody>
          <a:bodyPr wrap="square" rtlCol="0">
            <a:spAutoFit/>
          </a:bodyPr>
          <a:p>
            <a:r>
              <a:rPr lang="en-IN" altLang="en-US" u="sng">
                <a:latin typeface="Times New Roman" panose="02020603050405020304" charset="0"/>
                <a:cs typeface="Times New Roman" panose="02020603050405020304" charset="0"/>
              </a:rPr>
              <a:t>Selecting the target and input variable </a:t>
            </a:r>
            <a:endParaRPr lang="en-IN" altLang="en-US" u="sng">
              <a:latin typeface="Times New Roman" panose="02020603050405020304" charset="0"/>
              <a:cs typeface="Times New Roman" panose="02020603050405020304" charset="0"/>
            </a:endParaRPr>
          </a:p>
        </p:txBody>
      </p:sp>
      <p:sp>
        <p:nvSpPr>
          <p:cNvPr id="5" name="Text Box 4"/>
          <p:cNvSpPr txBox="1"/>
          <p:nvPr/>
        </p:nvSpPr>
        <p:spPr>
          <a:xfrm>
            <a:off x="6428105" y="2265045"/>
            <a:ext cx="2372360" cy="306705"/>
          </a:xfrm>
          <a:prstGeom prst="rect">
            <a:avLst/>
          </a:prstGeom>
          <a:noFill/>
        </p:spPr>
        <p:txBody>
          <a:bodyPr wrap="square" rtlCol="0">
            <a:spAutoFit/>
          </a:bodyPr>
          <a:p>
            <a:r>
              <a:rPr lang="en-IN" altLang="en-US" u="sng">
                <a:latin typeface="Times New Roman" panose="02020603050405020304" charset="0"/>
                <a:cs typeface="Times New Roman" panose="02020603050405020304" charset="0"/>
              </a:rPr>
              <a:t>Splitting the train and test data </a:t>
            </a:r>
            <a:endParaRPr lang="en-IN" altLang="en-US" u="sng">
              <a:latin typeface="Times New Roman" panose="02020603050405020304" charset="0"/>
              <a:cs typeface="Times New Roman" panose="02020603050405020304" charset="0"/>
            </a:endParaRPr>
          </a:p>
        </p:txBody>
      </p:sp>
      <p:sp>
        <p:nvSpPr>
          <p:cNvPr id="6" name="Text Box 5"/>
          <p:cNvSpPr txBox="1"/>
          <p:nvPr/>
        </p:nvSpPr>
        <p:spPr>
          <a:xfrm>
            <a:off x="558800" y="3716655"/>
            <a:ext cx="7832725" cy="953135"/>
          </a:xfrm>
          <a:prstGeom prst="rect">
            <a:avLst/>
          </a:prstGeom>
          <a:noFill/>
        </p:spPr>
        <p:txBody>
          <a:bodyPr wrap="square" rtlCol="0">
            <a:spAutoFit/>
          </a:bodyPr>
          <a:p>
            <a:r>
              <a:rPr lang="en-IN" altLang="en-US" b="1" u="sng">
                <a:latin typeface="Times New Roman" panose="02020603050405020304" charset="0"/>
                <a:cs typeface="Times New Roman" panose="02020603050405020304" charset="0"/>
              </a:rPr>
              <a:t>Note : </a:t>
            </a:r>
            <a:endParaRPr lang="en-IN" altLang="en-US" b="1" u="sng">
              <a:latin typeface="Times New Roman" panose="02020603050405020304" charset="0"/>
              <a:cs typeface="Times New Roman" panose="02020603050405020304" charset="0"/>
            </a:endParaRPr>
          </a:p>
          <a:p>
            <a:endParaRPr lang="en-IN"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1. </a:t>
            </a:r>
            <a:r>
              <a:rPr lang="en-US" altLang="en-IN" b="1">
                <a:latin typeface="Times New Roman" panose="02020603050405020304" charset="0"/>
                <a:cs typeface="Times New Roman" panose="02020603050405020304" charset="0"/>
              </a:rPr>
              <a:t>target</a:t>
            </a:r>
            <a:r>
              <a:rPr lang="en-IN" altLang="en-US">
                <a:latin typeface="Times New Roman" panose="02020603050405020304" charset="0"/>
                <a:cs typeface="Times New Roman" panose="02020603050405020304" charset="0"/>
              </a:rPr>
              <a:t> as target variable </a:t>
            </a:r>
            <a:endParaRPr lang="en-IN"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2. </a:t>
            </a:r>
            <a:r>
              <a:rPr lang="en-US" altLang="en-IN" b="1">
                <a:latin typeface="Times New Roman" panose="02020603050405020304" charset="0"/>
                <a:cs typeface="Times New Roman" panose="02020603050405020304" charset="0"/>
              </a:rPr>
              <a:t>Image</a:t>
            </a:r>
            <a:r>
              <a:rPr lang="en-US" altLang="en-IN">
                <a:latin typeface="Times New Roman" panose="02020603050405020304" charset="0"/>
                <a:cs typeface="Times New Roman" panose="02020603050405020304" charset="0"/>
              </a:rPr>
              <a:t> as input variable </a:t>
            </a:r>
            <a:r>
              <a:rPr lang="en-IN" altLang="en-US">
                <a:latin typeface="Times New Roman" panose="02020603050405020304" charset="0"/>
                <a:cs typeface="Times New Roman" panose="02020603050405020304" charset="0"/>
              </a:rPr>
              <a:t> </a:t>
            </a:r>
            <a:endParaRPr lang="en-IN" altLang="en-US">
              <a:latin typeface="Times New Roman" panose="02020603050405020304" charset="0"/>
              <a:cs typeface="Times New Roman" panose="02020603050405020304" charset="0"/>
            </a:endParaRPr>
          </a:p>
        </p:txBody>
      </p:sp>
      <p:pic>
        <p:nvPicPr>
          <p:cNvPr id="1" name="Picture 0"/>
          <p:cNvPicPr>
            <a:picLocks noChangeAspect="1"/>
          </p:cNvPicPr>
          <p:nvPr/>
        </p:nvPicPr>
        <p:blipFill>
          <a:blip r:embed="rId1"/>
          <a:srcRect r="57849" b="43126"/>
          <a:stretch>
            <a:fillRect/>
          </a:stretch>
        </p:blipFill>
        <p:spPr>
          <a:xfrm>
            <a:off x="684530" y="1386205"/>
            <a:ext cx="2411095" cy="1113790"/>
          </a:xfrm>
          <a:prstGeom prst="rect">
            <a:avLst/>
          </a:prstGeom>
        </p:spPr>
      </p:pic>
      <p:pic>
        <p:nvPicPr>
          <p:cNvPr id="8" name="Picture 7"/>
          <p:cNvPicPr>
            <a:picLocks noChangeAspect="1"/>
          </p:cNvPicPr>
          <p:nvPr/>
        </p:nvPicPr>
        <p:blipFill>
          <a:blip r:embed="rId1"/>
          <a:srcRect l="6530" t="51265" r="-6530" b="5901"/>
          <a:stretch>
            <a:fillRect/>
          </a:stretch>
        </p:blipFill>
        <p:spPr>
          <a:xfrm>
            <a:off x="684530" y="2642870"/>
            <a:ext cx="7254240" cy="8388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523240" y="601345"/>
            <a:ext cx="8152765" cy="4171950"/>
          </a:xfrm>
          <a:prstGeom prst="rect">
            <a:avLst/>
          </a:prstGeom>
          <a:noFill/>
        </p:spPr>
        <p:txBody>
          <a:bodyPr wrap="square" rtlCol="0">
            <a:noAutofit/>
          </a:bodyPr>
          <a:p>
            <a:pPr marL="0" lvl="1"/>
            <a:r>
              <a:rPr lang="en-US" altLang="en-US" sz="2000" b="1">
                <a:solidFill>
                  <a:srgbClr val="FF0000"/>
                </a:solidFill>
                <a:latin typeface="Times New Roman" panose="02020603050405020304" charset="0"/>
                <a:cs typeface="Times New Roman" panose="02020603050405020304" charset="0"/>
                <a:sym typeface="+mn-ea"/>
              </a:rPr>
              <a:t>Hyperparameter tuning</a:t>
            </a:r>
            <a:endParaRPr lang="en-US" altLang="en-US" sz="2000" b="1">
              <a:solidFill>
                <a:srgbClr val="FF0000"/>
              </a:solidFill>
              <a:latin typeface="Times New Roman" panose="02020603050405020304" charset="0"/>
              <a:cs typeface="Times New Roman" panose="02020603050405020304" charset="0"/>
              <a:sym typeface="+mn-ea"/>
            </a:endParaRPr>
          </a:p>
          <a:p>
            <a:pPr marL="0" lvl="1"/>
            <a:endParaRPr lang="en-US" altLang="en-US" sz="2000" b="1">
              <a:solidFill>
                <a:srgbClr val="FF0000"/>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
        <p:nvSpPr>
          <p:cNvPr id="3" name="Text Box 2"/>
          <p:cNvSpPr txBox="1"/>
          <p:nvPr/>
        </p:nvSpPr>
        <p:spPr>
          <a:xfrm>
            <a:off x="1301115" y="1323975"/>
            <a:ext cx="7796530" cy="2861310"/>
          </a:xfrm>
          <a:prstGeom prst="rect">
            <a:avLst/>
          </a:prstGeom>
        </p:spPr>
        <p:txBody>
          <a:bodyPr wrap="square">
            <a:spAutoFit/>
          </a:bodyPr>
          <a:p>
            <a:r>
              <a:rPr lang="en-US" altLang="en-US" sz="1200" b="1">
                <a:latin typeface="Times New Roman" panose="02020603050405020304" charset="0"/>
                <a:cs typeface="Times New Roman" panose="02020603050405020304" charset="0"/>
              </a:rPr>
              <a:t>Number of Layers:</a:t>
            </a:r>
            <a:r>
              <a:rPr lang="en-US" altLang="en-US" sz="1200">
                <a:latin typeface="Times New Roman" panose="02020603050405020304" charset="0"/>
                <a:cs typeface="Times New Roman" panose="02020603050405020304" charset="0"/>
              </a:rPr>
              <a:t> Tested ANN architectures with 1, 2, 3, and 4 hidden layers.</a:t>
            </a:r>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a:p>
            <a:r>
              <a:rPr lang="en-US" altLang="en-US" sz="1200" b="1">
                <a:latin typeface="Times New Roman" panose="02020603050405020304" charset="0"/>
                <a:cs typeface="Times New Roman" panose="02020603050405020304" charset="0"/>
              </a:rPr>
              <a:t>Neurons</a:t>
            </a:r>
            <a:r>
              <a:rPr lang="en-US" altLang="en-US" sz="1200">
                <a:latin typeface="Times New Roman" panose="02020603050405020304" charset="0"/>
                <a:cs typeface="Times New Roman" panose="02020603050405020304" charset="0"/>
              </a:rPr>
              <a:t>: Evaluated different numbers of neurons in each hidden layer, ranging from 32 to 256.</a:t>
            </a:r>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a:p>
            <a:r>
              <a:rPr lang="en-US" altLang="en-US" sz="1200" b="1">
                <a:latin typeface="Times New Roman" panose="02020603050405020304" charset="0"/>
                <a:cs typeface="Times New Roman" panose="02020603050405020304" charset="0"/>
              </a:rPr>
              <a:t>Dropout:</a:t>
            </a:r>
            <a:r>
              <a:rPr lang="en-US" altLang="en-US" sz="1200">
                <a:latin typeface="Times New Roman" panose="02020603050405020304" charset="0"/>
                <a:cs typeface="Times New Roman" panose="02020603050405020304" charset="0"/>
              </a:rPr>
              <a:t> Tested different dropout rates between 0.0 and 0.5 to reduce overfitting.</a:t>
            </a:r>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a:p>
            <a:r>
              <a:rPr lang="en-US" altLang="en-US" sz="1200" b="1">
                <a:latin typeface="Times New Roman" panose="02020603050405020304" charset="0"/>
                <a:cs typeface="Times New Roman" panose="02020603050405020304" charset="0"/>
              </a:rPr>
              <a:t>Learning Rate</a:t>
            </a:r>
            <a:r>
              <a:rPr lang="en-US" altLang="en-US" sz="1200">
                <a:latin typeface="Times New Roman" panose="02020603050405020304" charset="0"/>
                <a:cs typeface="Times New Roman" panose="02020603050405020304" charset="0"/>
              </a:rPr>
              <a:t>: Evaluated different learning rates ranging approximately from 0.0001 to 0.006.</a:t>
            </a:r>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a:p>
            <a:r>
              <a:rPr lang="en-US" altLang="en-US" sz="1200" b="1">
                <a:latin typeface="Times New Roman" panose="02020603050405020304" charset="0"/>
                <a:cs typeface="Times New Roman" panose="02020603050405020304" charset="0"/>
              </a:rPr>
              <a:t>Batch Size: </a:t>
            </a:r>
            <a:r>
              <a:rPr lang="en-US" altLang="en-US" sz="1200">
                <a:latin typeface="Times New Roman" panose="02020603050405020304" charset="0"/>
                <a:cs typeface="Times New Roman" panose="02020603050405020304" charset="0"/>
              </a:rPr>
              <a:t>Tested batch sizes of 16, 32, 64, and 128.</a:t>
            </a:r>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a:p>
            <a:r>
              <a:rPr lang="en-US" altLang="en-US" sz="1200" b="1">
                <a:latin typeface="Times New Roman" panose="02020603050405020304" charset="0"/>
                <a:cs typeface="Times New Roman" panose="02020603050405020304" charset="0"/>
              </a:rPr>
              <a:t>Random Search:</a:t>
            </a:r>
            <a:r>
              <a:rPr lang="en-US" altLang="en-US" sz="1200">
                <a:latin typeface="Times New Roman" panose="02020603050405020304" charset="0"/>
                <a:cs typeface="Times New Roman" panose="02020603050405020304" charset="0"/>
              </a:rPr>
              <a:t> Used hyperparameter optimization to explore different ANN parameter combinations.</a:t>
            </a:r>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a:p>
            <a:r>
              <a:rPr lang="en-US" altLang="en-US" sz="1200" b="1">
                <a:latin typeface="Times New Roman" panose="02020603050405020304" charset="0"/>
                <a:cs typeface="Times New Roman" panose="02020603050405020304" charset="0"/>
              </a:rPr>
              <a:t>Final Training:</a:t>
            </a:r>
            <a:r>
              <a:rPr lang="en-US" altLang="en-US" sz="1200">
                <a:latin typeface="Times New Roman" panose="02020603050405020304" charset="0"/>
                <a:cs typeface="Times New Roman" panose="02020603050405020304" charset="0"/>
              </a:rPr>
              <a:t> Trained the final ANN model using the best-performing hyperparameters.</a:t>
            </a:r>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a:p>
            <a:endParaRPr lang="en-US" altLang="en-US" sz="12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375285" y="601345"/>
            <a:ext cx="8152765" cy="4171950"/>
          </a:xfrm>
          <a:prstGeom prst="rect">
            <a:avLst/>
          </a:prstGeom>
          <a:noFill/>
        </p:spPr>
        <p:txBody>
          <a:bodyPr wrap="square" rtlCol="0">
            <a:noAutofit/>
          </a:bodyPr>
          <a:p>
            <a:pPr marL="0" lvl="1"/>
            <a:r>
              <a:rPr lang="en-US" altLang="en-US" sz="2000" b="1">
                <a:solidFill>
                  <a:srgbClr val="FF0000"/>
                </a:solidFill>
                <a:latin typeface="Times New Roman" panose="02020603050405020304" charset="0"/>
                <a:cs typeface="Times New Roman" panose="02020603050405020304" charset="0"/>
                <a:sym typeface="+mn-ea"/>
              </a:rPr>
              <a:t>Best Model Building</a:t>
            </a:r>
            <a:endParaRPr lang="en-US" altLang="en-US" sz="2000" b="1">
              <a:solidFill>
                <a:srgbClr val="FF0000"/>
              </a:solidFill>
              <a:latin typeface="Times New Roman" panose="02020603050405020304" charset="0"/>
              <a:cs typeface="Times New Roman" panose="02020603050405020304" charset="0"/>
              <a:sym typeface="+mn-ea"/>
            </a:endParaRPr>
          </a:p>
          <a:p>
            <a:pPr marL="0" lvl="1"/>
            <a:endParaRPr lang="en-US" altLang="en-US" sz="2000" b="1">
              <a:solidFill>
                <a:srgbClr val="FF0000"/>
              </a:solidFill>
              <a:latin typeface="Times New Roman" panose="02020603050405020304" charset="0"/>
              <a:cs typeface="Times New Roman" panose="02020603050405020304" charset="0"/>
              <a:sym typeface="+mn-ea"/>
            </a:endParaRPr>
          </a:p>
          <a:p>
            <a:pPr marL="457200" lvl="2"/>
            <a:endParaRPr lang="en-US" altLang="en-US" sz="1200" b="1">
              <a:solidFill>
                <a:schemeClr val="tx1"/>
              </a:solidFill>
              <a:latin typeface="Times New Roman" panose="02020603050405020304" charset="0"/>
              <a:cs typeface="Times New Roman" panose="02020603050405020304" charset="0"/>
              <a:sym typeface="+mn-ea"/>
            </a:endParaRPr>
          </a:p>
          <a:p>
            <a:pPr marL="457200" lvl="2"/>
            <a:endParaRPr lang="en-US" altLang="en-US" sz="1200">
              <a:solidFill>
                <a:schemeClr val="tx1"/>
              </a:solidFill>
              <a:latin typeface="Times New Roman" panose="02020603050405020304" charset="0"/>
              <a:cs typeface="Times New Roman" panose="02020603050405020304" charset="0"/>
              <a:sym typeface="+mn-ea"/>
            </a:endParaRPr>
          </a:p>
          <a:p>
            <a:pPr marL="457200" lvl="2"/>
            <a:r>
              <a:rPr lang="en-US" altLang="en-US" sz="1200">
                <a:solidFill>
                  <a:schemeClr val="tx1"/>
                </a:solidFill>
                <a:latin typeface="Times New Roman" panose="02020603050405020304" charset="0"/>
                <a:cs typeface="Times New Roman" panose="02020603050405020304" charset="0"/>
                <a:sym typeface="+mn-ea"/>
              </a:rPr>
              <a:t>3 hidden layers</a:t>
            </a:r>
            <a:endParaRPr lang="en-US" altLang="en-US" sz="1200">
              <a:solidFill>
                <a:schemeClr val="tx1"/>
              </a:solidFill>
              <a:latin typeface="Times New Roman" panose="02020603050405020304" charset="0"/>
              <a:cs typeface="Times New Roman" panose="02020603050405020304" charset="0"/>
              <a:sym typeface="+mn-ea"/>
            </a:endParaRPr>
          </a:p>
          <a:p>
            <a:pPr marL="457200" lvl="2"/>
            <a:endParaRPr lang="en-US" altLang="en-US" sz="1200">
              <a:solidFill>
                <a:schemeClr val="tx1"/>
              </a:solidFill>
              <a:latin typeface="Times New Roman" panose="02020603050405020304" charset="0"/>
              <a:cs typeface="Times New Roman" panose="02020603050405020304" charset="0"/>
              <a:sym typeface="+mn-ea"/>
            </a:endParaRPr>
          </a:p>
          <a:p>
            <a:pPr marL="457200" lvl="2"/>
            <a:r>
              <a:rPr lang="en-US" altLang="en-US" sz="1200">
                <a:solidFill>
                  <a:schemeClr val="tx1"/>
                </a:solidFill>
                <a:latin typeface="Times New Roman" panose="02020603050405020304" charset="0"/>
                <a:cs typeface="Times New Roman" panose="02020603050405020304" charset="0"/>
                <a:sym typeface="+mn-ea"/>
              </a:rPr>
              <a:t>160, 192, and 160 neurons</a:t>
            </a:r>
            <a:endParaRPr lang="en-US" altLang="en-US" sz="1200">
              <a:solidFill>
                <a:schemeClr val="tx1"/>
              </a:solidFill>
              <a:latin typeface="Times New Roman" panose="02020603050405020304" charset="0"/>
              <a:cs typeface="Times New Roman" panose="02020603050405020304" charset="0"/>
              <a:sym typeface="+mn-ea"/>
            </a:endParaRPr>
          </a:p>
          <a:p>
            <a:pPr marL="457200" lvl="2"/>
            <a:endParaRPr lang="en-US" altLang="en-US" sz="1200">
              <a:solidFill>
                <a:schemeClr val="tx1"/>
              </a:solidFill>
              <a:latin typeface="Times New Roman" panose="02020603050405020304" charset="0"/>
              <a:cs typeface="Times New Roman" panose="02020603050405020304" charset="0"/>
              <a:sym typeface="+mn-ea"/>
            </a:endParaRPr>
          </a:p>
          <a:p>
            <a:pPr marL="457200" lvl="2"/>
            <a:r>
              <a:rPr lang="en-US" altLang="en-US" sz="1200">
                <a:solidFill>
                  <a:schemeClr val="tx1"/>
                </a:solidFill>
                <a:latin typeface="Times New Roman" panose="02020603050405020304" charset="0"/>
                <a:cs typeface="Times New Roman" panose="02020603050405020304" charset="0"/>
                <a:sym typeface="+mn-ea"/>
              </a:rPr>
              <a:t>Dropout: 0.1 and 0.3</a:t>
            </a:r>
            <a:endParaRPr lang="en-US" altLang="en-US" sz="1200">
              <a:solidFill>
                <a:schemeClr val="tx1"/>
              </a:solidFill>
              <a:latin typeface="Times New Roman" panose="02020603050405020304" charset="0"/>
              <a:cs typeface="Times New Roman" panose="02020603050405020304" charset="0"/>
              <a:sym typeface="+mn-ea"/>
            </a:endParaRPr>
          </a:p>
          <a:p>
            <a:pPr marL="457200" lvl="2"/>
            <a:endParaRPr lang="en-US" altLang="en-US" sz="1200">
              <a:solidFill>
                <a:schemeClr val="tx1"/>
              </a:solidFill>
              <a:latin typeface="Times New Roman" panose="02020603050405020304" charset="0"/>
              <a:cs typeface="Times New Roman" panose="02020603050405020304" charset="0"/>
              <a:sym typeface="+mn-ea"/>
            </a:endParaRPr>
          </a:p>
          <a:p>
            <a:pPr marL="457200" lvl="2"/>
            <a:r>
              <a:rPr lang="en-US" altLang="en-US" sz="1200">
                <a:solidFill>
                  <a:schemeClr val="tx1"/>
                </a:solidFill>
                <a:latin typeface="Times New Roman" panose="02020603050405020304" charset="0"/>
                <a:cs typeface="Times New Roman" panose="02020603050405020304" charset="0"/>
                <a:sym typeface="+mn-ea"/>
              </a:rPr>
              <a:t>Learning rate: 0.000321</a:t>
            </a:r>
            <a:endParaRPr lang="en-US" altLang="en-US" sz="1200">
              <a:solidFill>
                <a:schemeClr val="tx1"/>
              </a:solidFill>
              <a:latin typeface="Times New Roman" panose="02020603050405020304" charset="0"/>
              <a:cs typeface="Times New Roman" panose="02020603050405020304" charset="0"/>
              <a:sym typeface="+mn-ea"/>
            </a:endParaRPr>
          </a:p>
          <a:p>
            <a:pPr marL="457200" lvl="2"/>
            <a:endParaRPr lang="en-US" altLang="en-US" sz="1200">
              <a:solidFill>
                <a:schemeClr val="tx1"/>
              </a:solidFill>
              <a:latin typeface="Times New Roman" panose="02020603050405020304" charset="0"/>
              <a:cs typeface="Times New Roman" panose="02020603050405020304" charset="0"/>
              <a:sym typeface="+mn-ea"/>
            </a:endParaRPr>
          </a:p>
          <a:p>
            <a:pPr marL="457200" lvl="2"/>
            <a:r>
              <a:rPr lang="en-US" altLang="en-US" sz="1200">
                <a:solidFill>
                  <a:schemeClr val="tx1"/>
                </a:solidFill>
                <a:latin typeface="Times New Roman" panose="02020603050405020304" charset="0"/>
                <a:cs typeface="Times New Roman" panose="02020603050405020304" charset="0"/>
                <a:sym typeface="+mn-ea"/>
              </a:rPr>
              <a:t>Batch size: 16</a:t>
            </a:r>
            <a:endParaRPr lang="en-US" altLang="en-US" sz="1200">
              <a:solidFill>
                <a:schemeClr val="tx1"/>
              </a:solidFill>
              <a:latin typeface="Times New Roman" panose="02020603050405020304" charset="0"/>
              <a:cs typeface="Times New Roman" panose="02020603050405020304" charset="0"/>
              <a:sym typeface="+mn-ea"/>
            </a:endParaRPr>
          </a:p>
          <a:p>
            <a:pPr marL="457200" lvl="2"/>
            <a:endParaRPr lang="en-US" altLang="en-US" sz="1200">
              <a:solidFill>
                <a:schemeClr val="tx1"/>
              </a:solidFill>
              <a:latin typeface="Times New Roman" panose="02020603050405020304" charset="0"/>
              <a:cs typeface="Times New Roman" panose="02020603050405020304" charset="0"/>
              <a:sym typeface="+mn-ea"/>
            </a:endParaRPr>
          </a:p>
          <a:p>
            <a:pPr marL="0" lvl="2" indent="457200"/>
            <a:r>
              <a:rPr lang="en-US" altLang="en-US" sz="1200" b="1">
                <a:solidFill>
                  <a:schemeClr val="tx1"/>
                </a:solidFill>
                <a:latin typeface="Times New Roman" panose="02020603050405020304" charset="0"/>
                <a:cs typeface="Times New Roman" panose="02020603050405020304" charset="0"/>
                <a:sym typeface="+mn-ea"/>
              </a:rPr>
              <a:t>Achieved a 75.41% validation accuracy using the best parameter combination:</a:t>
            </a:r>
            <a:endParaRPr lang="en-US" altLang="en-US" sz="1200" b="1">
              <a:solidFill>
                <a:schemeClr val="tx1"/>
              </a:solidFill>
              <a:latin typeface="Times New Roman" panose="02020603050405020304" charset="0"/>
              <a:cs typeface="Times New Roman" panose="02020603050405020304" charset="0"/>
              <a:sym typeface="+mn-ea"/>
            </a:endParaRPr>
          </a:p>
          <a:p>
            <a:pPr marL="457200" lvl="2"/>
            <a:endParaRPr lang="en-US" altLang="en-US" sz="1200">
              <a:solidFill>
                <a:schemeClr val="tx1"/>
              </a:solidFill>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Arial" panose="020B0604020202020204"/>
              <a:ea typeface="Arial" panose="020B0604020202020204"/>
            </a:endParaRPr>
          </a:p>
          <a:p>
            <a:pPr marL="457200" lvl="2" indent="0">
              <a:buFont typeface="Arial" panose="020B0604020202020204" pitchFamily="34" charset="0"/>
              <a:buNone/>
            </a:pPr>
            <a:endParaRPr lang="en-US" altLang="zh-CN" sz="1200">
              <a:latin typeface="Times New Roman" panose="02020603050405020304" charset="0"/>
              <a:cs typeface="Times New Roman" panose="02020603050405020304" charset="0"/>
              <a:sym typeface="+mn-ea"/>
            </a:endParaRPr>
          </a:p>
          <a:p>
            <a:pPr marL="457200" lvl="2" indent="0">
              <a:buFont typeface="Arial" panose="020B0604020202020204" pitchFamily="34" charset="0"/>
              <a:buNone/>
            </a:pPr>
            <a:endParaRPr lang="en-US" altLang="zh-CN" sz="1200" b="0" i="0">
              <a:solidFill>
                <a:srgbClr val="00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1200" b="1" u="sng">
              <a:latin typeface="Times New Roman" panose="02020603050405020304" charset="0"/>
              <a:cs typeface="Times New Roman" panose="02020603050405020304"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2" name="Text Box 1"/>
          <p:cNvSpPr txBox="1"/>
          <p:nvPr/>
        </p:nvSpPr>
        <p:spPr>
          <a:xfrm>
            <a:off x="495300" y="601345"/>
            <a:ext cx="8152765" cy="4171950"/>
          </a:xfrm>
          <a:prstGeom prst="rect">
            <a:avLst/>
          </a:prstGeom>
          <a:noFill/>
        </p:spPr>
        <p:txBody>
          <a:bodyPr wrap="square" rtlCol="0">
            <a:noAutofit/>
          </a:bodyPr>
          <a:p>
            <a:pPr marL="457200" lvl="2" indent="0">
              <a:buFont typeface="Arial" panose="020B0604020202020204" pitchFamily="34" charset="0"/>
              <a:buNone/>
            </a:pPr>
            <a:r>
              <a:rPr lang="en-IN" altLang="en-US" sz="2000" b="1" i="0">
                <a:solidFill>
                  <a:srgbClr val="FF0000"/>
                </a:solidFill>
                <a:latin typeface="Times New Roman" panose="02020603050405020304" charset="0"/>
                <a:ea typeface="Arial" panose="020B0604020202020204"/>
                <a:cs typeface="Times New Roman" panose="02020603050405020304" charset="0"/>
              </a:rPr>
              <a:t>Conclusion</a:t>
            </a:r>
            <a:endParaRPr lang="en-IN" altLang="en-US" sz="2000" b="1" i="0">
              <a:solidFill>
                <a:srgbClr val="FF0000"/>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IN" altLang="en-US" sz="2000" b="1" i="0">
              <a:solidFill>
                <a:srgbClr val="FF0000"/>
              </a:solidFill>
              <a:latin typeface="Times New Roman" panose="02020603050405020304" charset="0"/>
              <a:ea typeface="Arial" panose="020B0604020202020204"/>
              <a:cs typeface="Times New Roman" panose="02020603050405020304" charset="0"/>
            </a:endParaRPr>
          </a:p>
          <a:p>
            <a:pPr marL="457200" lvl="2" indent="0" algn="just">
              <a:buFont typeface="Arial" panose="020B0604020202020204" pitchFamily="34" charset="0"/>
              <a:buNone/>
            </a:pPr>
            <a:endParaRPr lang="en-US" altLang="en-US" sz="2000" b="1" i="0">
              <a:solidFill>
                <a:srgbClr val="FF0000"/>
              </a:solidFill>
              <a:latin typeface="Times New Roman" panose="02020603050405020304" charset="0"/>
              <a:ea typeface="Arial" panose="020B0604020202020204"/>
              <a:cs typeface="Times New Roman" panose="02020603050405020304" charset="0"/>
            </a:endParaRPr>
          </a:p>
          <a:p>
            <a:pPr marL="742950" lvl="2" indent="-285750" algn="just">
              <a:buFont typeface="Arial" panose="020B0604020202020204" pitchFamily="34" charset="0"/>
              <a:buChar char="•"/>
            </a:pPr>
            <a:r>
              <a:rPr lang="en-US" altLang="en-US" sz="1200" i="0">
                <a:solidFill>
                  <a:schemeClr val="tx1"/>
                </a:solidFill>
                <a:latin typeface="Times New Roman" panose="02020603050405020304" charset="0"/>
                <a:ea typeface="Arial" panose="020B0604020202020204"/>
                <a:cs typeface="Times New Roman" panose="02020603050405020304" charset="0"/>
              </a:rPr>
              <a:t>An end-to-end traffic sign recognition and Alert system  using an Artificial Neural Network (ANN).</a:t>
            </a:r>
            <a:endParaRPr lang="en-US" altLang="en-US" sz="1200" i="0">
              <a:solidFill>
                <a:schemeClr val="tx1"/>
              </a:solidFill>
              <a:latin typeface="Times New Roman" panose="02020603050405020304" charset="0"/>
              <a:ea typeface="Arial" panose="020B0604020202020204"/>
              <a:cs typeface="Times New Roman" panose="02020603050405020304" charset="0"/>
            </a:endParaRPr>
          </a:p>
          <a:p>
            <a:pPr marL="742950" lvl="2" indent="-285750" algn="just">
              <a:buFont typeface="Arial" panose="020B0604020202020204" pitchFamily="34" charset="0"/>
              <a:buChar char="•"/>
            </a:pPr>
            <a:endParaRPr lang="en-US" altLang="en-US" sz="1200" i="0">
              <a:solidFill>
                <a:schemeClr val="tx1"/>
              </a:solidFill>
              <a:latin typeface="Times New Roman" panose="02020603050405020304" charset="0"/>
              <a:ea typeface="Arial" panose="020B0604020202020204"/>
              <a:cs typeface="Times New Roman" panose="02020603050405020304" charset="0"/>
            </a:endParaRPr>
          </a:p>
          <a:p>
            <a:pPr marL="742950" lvl="2" indent="-285750" algn="just">
              <a:buFont typeface="Arial" panose="020B0604020202020204" pitchFamily="34" charset="0"/>
              <a:buChar char="•"/>
            </a:pPr>
            <a:r>
              <a:rPr lang="en-US" altLang="en-US" sz="1200" i="0">
                <a:solidFill>
                  <a:schemeClr val="tx1"/>
                </a:solidFill>
                <a:latin typeface="Times New Roman" panose="02020603050405020304" charset="0"/>
                <a:ea typeface="Arial" panose="020B0604020202020204"/>
                <a:cs typeface="Times New Roman" panose="02020603050405020304" charset="0"/>
              </a:rPr>
              <a:t>The system accepts images, videos, and live camera input, preprocesses the traffic sign images, and predicts the corresponding traffic sign using an </a:t>
            </a:r>
            <a:r>
              <a:rPr lang="en-US" altLang="en-US" sz="1200" b="1" i="0">
                <a:solidFill>
                  <a:schemeClr val="tx1"/>
                </a:solidFill>
                <a:latin typeface="Times New Roman" panose="02020603050405020304" charset="0"/>
                <a:ea typeface="Arial" panose="020B0604020202020204"/>
                <a:cs typeface="Times New Roman" panose="02020603050405020304" charset="0"/>
              </a:rPr>
              <a:t>ANN classifier with 75.41% validation accuracy</a:t>
            </a:r>
            <a:r>
              <a:rPr lang="en-US" altLang="en-US" sz="1200" i="0">
                <a:solidFill>
                  <a:schemeClr val="tx1"/>
                </a:solidFill>
                <a:latin typeface="Times New Roman" panose="02020603050405020304" charset="0"/>
                <a:ea typeface="Arial" panose="020B0604020202020204"/>
                <a:cs typeface="Times New Roman" panose="02020603050405020304" charset="0"/>
              </a:rPr>
              <a:t>. The system also displays the prediction and confidence score and provides a </a:t>
            </a:r>
            <a:r>
              <a:rPr lang="en-US" altLang="en-US" sz="1200" b="1" i="0">
                <a:solidFill>
                  <a:schemeClr val="tx1"/>
                </a:solidFill>
                <a:latin typeface="Times New Roman" panose="02020603050405020304" charset="0"/>
                <a:ea typeface="Arial" panose="020B0604020202020204"/>
                <a:cs typeface="Times New Roman" panose="02020603050405020304" charset="0"/>
              </a:rPr>
              <a:t>voice alert </a:t>
            </a:r>
            <a:r>
              <a:rPr lang="en-US" altLang="en-US" sz="1200" i="0">
                <a:solidFill>
                  <a:schemeClr val="tx1"/>
                </a:solidFill>
                <a:latin typeface="Times New Roman" panose="02020603050405020304" charset="0"/>
                <a:ea typeface="Arial" panose="020B0604020202020204"/>
                <a:cs typeface="Times New Roman" panose="02020603050405020304" charset="0"/>
              </a:rPr>
              <a:t>for the detected traffic sign.</a:t>
            </a:r>
            <a:endParaRPr lang="en-US" altLang="en-US" sz="1200" i="0">
              <a:solidFill>
                <a:schemeClr val="tx1"/>
              </a:solidFill>
              <a:latin typeface="Times New Roman" panose="02020603050405020304" charset="0"/>
              <a:ea typeface="Arial" panose="020B0604020202020204"/>
              <a:cs typeface="Times New Roman" panose="02020603050405020304" charset="0"/>
            </a:endParaRPr>
          </a:p>
          <a:p>
            <a:pPr marL="457200" lvl="2" indent="0">
              <a:buFont typeface="Arial" panose="020B0604020202020204" pitchFamily="34" charset="0"/>
              <a:buNone/>
            </a:pPr>
            <a:endParaRPr lang="en-US" altLang="en-US" sz="1200" i="0">
              <a:solidFill>
                <a:schemeClr val="tx1"/>
              </a:solidFill>
              <a:latin typeface="Times New Roman" panose="02020603050405020304" charset="0"/>
              <a:ea typeface="Arial" panose="020B0604020202020204"/>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41020" y="400050"/>
            <a:ext cx="4572000" cy="398780"/>
          </a:xfrm>
          <a:prstGeom prst="rect">
            <a:avLst/>
          </a:prstGeom>
          <a:noFill/>
        </p:spPr>
        <p:txBody>
          <a:bodyPr wrap="square" rtlCol="0" anchor="t">
            <a:spAutoFit/>
          </a:bodyPr>
          <a:p>
            <a:pPr marL="457200" lvl="2" indent="0">
              <a:buFont typeface="Arial" panose="020B0604020202020204" pitchFamily="34" charset="0"/>
              <a:buNone/>
            </a:pPr>
            <a:r>
              <a:rPr lang="en-US" altLang="en-IN" sz="2000" b="1">
                <a:solidFill>
                  <a:srgbClr val="FF0000"/>
                </a:solidFill>
                <a:latin typeface="Times New Roman" panose="02020603050405020304" charset="0"/>
                <a:cs typeface="Times New Roman" panose="02020603050405020304" charset="0"/>
                <a:sym typeface="+mn-ea"/>
              </a:rPr>
              <a:t>Sample Image</a:t>
            </a:r>
            <a:endParaRPr lang="en-US" altLang="en-IN" sz="2000" b="1">
              <a:solidFill>
                <a:srgbClr val="FF0000"/>
              </a:solidFill>
              <a:latin typeface="Times New Roman" panose="02020603050405020304" charset="0"/>
              <a:cs typeface="Times New Roman" panose="02020603050405020304" charset="0"/>
              <a:sym typeface="+mn-ea"/>
            </a:endParaRPr>
          </a:p>
        </p:txBody>
      </p:sp>
      <p:pic>
        <p:nvPicPr>
          <p:cNvPr id="2" name="Picture 1"/>
          <p:cNvPicPr>
            <a:picLocks noChangeAspect="1"/>
          </p:cNvPicPr>
          <p:nvPr/>
        </p:nvPicPr>
        <p:blipFill>
          <a:blip r:embed="rId1"/>
          <a:stretch>
            <a:fillRect/>
          </a:stretch>
        </p:blipFill>
        <p:spPr>
          <a:xfrm>
            <a:off x="4747895" y="1386205"/>
            <a:ext cx="4316730" cy="2565400"/>
          </a:xfrm>
          <a:prstGeom prst="rect">
            <a:avLst/>
          </a:prstGeom>
        </p:spPr>
      </p:pic>
      <p:pic>
        <p:nvPicPr>
          <p:cNvPr id="3" name="Picture 2"/>
          <p:cNvPicPr>
            <a:picLocks noChangeAspect="1"/>
          </p:cNvPicPr>
          <p:nvPr/>
        </p:nvPicPr>
        <p:blipFill>
          <a:blip r:embed="rId2"/>
          <a:srcRect r="49444"/>
          <a:stretch>
            <a:fillRect/>
          </a:stretch>
        </p:blipFill>
        <p:spPr>
          <a:xfrm>
            <a:off x="0" y="755015"/>
            <a:ext cx="4197350" cy="382841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4" name="Text Box 3"/>
          <p:cNvSpPr txBox="1"/>
          <p:nvPr/>
        </p:nvSpPr>
        <p:spPr>
          <a:xfrm>
            <a:off x="0" y="0"/>
            <a:ext cx="9143365" cy="5143500"/>
          </a:xfrm>
          <a:prstGeom prst="rect">
            <a:avLst/>
          </a:prstGeom>
          <a:noFill/>
        </p:spPr>
        <p:txBody>
          <a:bodyPr wrap="square" rtlCol="0" anchor="ctr" anchorCtr="0">
            <a:noAutofit/>
          </a:bodyPr>
          <a:p>
            <a:pPr algn="ctr"/>
            <a:r>
              <a:rPr lang="en-IN" altLang="en-GB" sz="2800" b="1">
                <a:solidFill>
                  <a:srgbClr val="FF0000"/>
                </a:solidFill>
                <a:latin typeface="Times New Roman" panose="02020603050405020304" charset="0"/>
                <a:cs typeface="Times New Roman" panose="02020603050405020304" charset="0"/>
                <a:sym typeface="+mn-ea"/>
              </a:rPr>
              <a:t>Q&amp;A</a:t>
            </a:r>
            <a:endParaRPr lang="en-IN" altLang="en-GB" sz="2800" b="1">
              <a:solidFill>
                <a:srgbClr val="FF0000"/>
              </a:solidFill>
              <a:latin typeface="Times New Roman" panose="02020603050405020304" charset="0"/>
              <a:cs typeface="Times New Roman" panose="02020603050405020304"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80" name="Shape 80"/>
        <p:cNvGrpSpPr/>
        <p:nvPr/>
      </p:nvGrpSpPr>
      <p:grpSpPr>
        <a:xfrm>
          <a:off x="0" y="0"/>
          <a:ext cx="0" cy="0"/>
          <a:chOff x="0" y="0"/>
          <a:chExt cx="0" cy="0"/>
        </a:xfrm>
      </p:grpSpPr>
      <p:pic>
        <p:nvPicPr>
          <p:cNvPr id="81" name="Google Shape;81;p17"/>
          <p:cNvPicPr preferRelativeResize="0"/>
          <p:nvPr/>
        </p:nvPicPr>
        <p:blipFill rotWithShape="1">
          <a:blip r:embed="rId1"/>
          <a:srcRect/>
          <a:stretch>
            <a:fillRect/>
          </a:stretch>
        </p:blipFill>
        <p:spPr>
          <a:xfrm>
            <a:off x="4849887" y="1388062"/>
            <a:ext cx="3349231" cy="2125738"/>
          </a:xfrm>
          <a:prstGeom prst="rect">
            <a:avLst/>
          </a:prstGeom>
          <a:noFill/>
          <a:ln>
            <a:noFill/>
          </a:ln>
        </p:spPr>
      </p:pic>
      <p:sp>
        <p:nvSpPr>
          <p:cNvPr id="82" name="Google Shape;82;p17"/>
          <p:cNvSpPr txBox="1"/>
          <p:nvPr/>
        </p:nvSpPr>
        <p:spPr>
          <a:xfrm>
            <a:off x="933450" y="2247900"/>
            <a:ext cx="2746200" cy="5772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C00000"/>
              </a:buClr>
              <a:buSzPts val="3300"/>
              <a:buFont typeface="Libre Baskerville" panose="02000000000000000000"/>
              <a:buNone/>
            </a:pPr>
            <a:r>
              <a:rPr lang="en-GB" sz="33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4344</Words>
  <Application>WPS Presentation</Application>
  <PresentationFormat/>
  <Paragraphs>203</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Calibri</vt:lpstr>
      <vt:lpstr>Times New Roman</vt:lpstr>
      <vt:lpstr>Times New Roman</vt:lpstr>
      <vt:lpstr>Microsoft YaHei</vt:lpstr>
      <vt:lpstr>Arial Unicode MS</vt:lpstr>
      <vt:lpstr>Libre Baskerville</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volley plus</cp:lastModifiedBy>
  <cp:revision>72</cp:revision>
  <dcterms:created xsi:type="dcterms:W3CDTF">2026-04-30T06:23:00Z</dcterms:created>
  <dcterms:modified xsi:type="dcterms:W3CDTF">2026-09-02T06:52:35Z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6087224BE9974EFE99A6758900C7D130_13</vt:lpwstr>
  </property>
  <property fmtid="{D5CDD505-2E9C-101B-9397-08002B2CF9AE}" pid="3" name="KSOProductBuildVer">
    <vt:lpwstr>1033-12.1.0.28032</vt:lpwstr>
  </property>
</Properties>
</file>